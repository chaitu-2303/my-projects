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eg"/>
  <Override PartName="/ppt/media/image6.jpg" ContentType="image/jpeg"/>
  <Override PartName="/ppt/media/image7.jpg" ContentType="image/jpeg"/>
  <Override PartName="/ppt/media/image8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1" r:id="rId8"/>
    <p:sldId id="263" r:id="rId9"/>
    <p:sldId id="272" r:id="rId10"/>
    <p:sldId id="264" r:id="rId11"/>
    <p:sldId id="270" r:id="rId12"/>
    <p:sldId id="265" r:id="rId13"/>
    <p:sldId id="266" r:id="rId14"/>
    <p:sldId id="267" r:id="rId15"/>
    <p:sldId id="268" r:id="rId16"/>
    <p:sldId id="269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4123F-C379-2AB7-C213-D6F66B34B04E}" v="164" dt="2024-08-25T10:50:59.1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48775" y="0"/>
            <a:ext cx="2943225" cy="914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8817" y="312991"/>
            <a:ext cx="1623060" cy="26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571624"/>
            <a:ext cx="10356850" cy="3387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3834" y="6441747"/>
            <a:ext cx="163512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1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41747"/>
            <a:ext cx="74421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25-08-2024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6051" y="6441747"/>
            <a:ext cx="2286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url.li/qjloh" TargetMode="External"/><Relationship Id="rId2" Type="http://schemas.openxmlformats.org/officeDocument/2006/relationships/hyperlink" Target="https://doi.org/10.1038/s41598-023-35446-4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8775" y="0"/>
            <a:ext cx="2905125" cy="914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6458" y="673829"/>
            <a:ext cx="3642995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spc="-40" dirty="0">
                <a:latin typeface="Calibri Light"/>
                <a:cs typeface="Calibri Light"/>
              </a:rPr>
              <a:t>EMO</a:t>
            </a:r>
            <a:r>
              <a:rPr sz="6000" b="0" spc="-185" dirty="0">
                <a:latin typeface="Calibri Light"/>
                <a:cs typeface="Calibri Light"/>
              </a:rPr>
              <a:t> </a:t>
            </a:r>
            <a:r>
              <a:rPr sz="6000" b="0" spc="-65" dirty="0">
                <a:latin typeface="Calibri Light"/>
                <a:cs typeface="Calibri Light"/>
              </a:rPr>
              <a:t>TRACK</a:t>
            </a:r>
            <a:endParaRPr sz="60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0301" y="1928114"/>
            <a:ext cx="3216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 Light"/>
                <a:cs typeface="Calibri Light"/>
              </a:rPr>
              <a:t>-</a:t>
            </a:r>
            <a:r>
              <a:rPr sz="2400" spc="-35" dirty="0">
                <a:latin typeface="Calibri Light"/>
                <a:cs typeface="Calibri Light"/>
              </a:rPr>
              <a:t> </a:t>
            </a:r>
            <a:r>
              <a:rPr sz="2400" spc="-25" dirty="0">
                <a:latin typeface="Calibri Light"/>
                <a:cs typeface="Calibri Light"/>
              </a:rPr>
              <a:t>Mapping</a:t>
            </a:r>
            <a:r>
              <a:rPr sz="2400" spc="-30" dirty="0">
                <a:latin typeface="Calibri Light"/>
                <a:cs typeface="Calibri Light"/>
              </a:rPr>
              <a:t> </a:t>
            </a:r>
            <a:r>
              <a:rPr sz="2400" spc="-35" dirty="0">
                <a:latin typeface="Calibri Light"/>
                <a:cs typeface="Calibri Light"/>
              </a:rPr>
              <a:t>Faces</a:t>
            </a:r>
            <a:r>
              <a:rPr sz="2400" spc="15" dirty="0">
                <a:latin typeface="Calibri Light"/>
                <a:cs typeface="Calibri Light"/>
              </a:rPr>
              <a:t> </a:t>
            </a:r>
            <a:r>
              <a:rPr sz="2400" spc="-20" dirty="0">
                <a:latin typeface="Calibri Light"/>
                <a:cs typeface="Calibri Light"/>
              </a:rPr>
              <a:t>to</a:t>
            </a:r>
            <a:r>
              <a:rPr sz="2400" spc="-75" dirty="0">
                <a:latin typeface="Calibri Light"/>
                <a:cs typeface="Calibri Light"/>
              </a:rPr>
              <a:t> </a:t>
            </a:r>
            <a:r>
              <a:rPr sz="2400" spc="-15" dirty="0">
                <a:latin typeface="Calibri Light"/>
                <a:cs typeface="Calibri Light"/>
              </a:rPr>
              <a:t>Moods</a:t>
            </a:r>
            <a:endParaRPr sz="24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932" y="3311416"/>
            <a:ext cx="4932045" cy="204851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891540" indent="1867535">
              <a:lnSpc>
                <a:spcPct val="120300"/>
              </a:lnSpc>
              <a:spcBef>
                <a:spcPts val="65"/>
              </a:spcBef>
            </a:pPr>
            <a:r>
              <a:rPr sz="24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Presented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By: 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PADALA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ANIRUDH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(210304124140)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25" dirty="0">
                <a:latin typeface="Calibri"/>
                <a:cs typeface="Calibri"/>
              </a:rPr>
              <a:t>NALLI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DINESH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DAS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(210304124108)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ts val="3160"/>
              </a:lnSpc>
              <a:spcBef>
                <a:spcPts val="15"/>
              </a:spcBef>
            </a:pPr>
            <a:r>
              <a:rPr sz="2150" spc="25" dirty="0">
                <a:latin typeface="Calibri"/>
                <a:cs typeface="Calibri"/>
              </a:rPr>
              <a:t>CHAMAL </a:t>
            </a:r>
            <a:r>
              <a:rPr sz="2150" spc="5" dirty="0">
                <a:latin typeface="Calibri"/>
                <a:cs typeface="Calibri"/>
              </a:rPr>
              <a:t>KOWSHIK </a:t>
            </a:r>
            <a:r>
              <a:rPr sz="2150" spc="15" dirty="0">
                <a:latin typeface="Calibri"/>
                <a:cs typeface="Calibri"/>
              </a:rPr>
              <a:t>REDDY </a:t>
            </a:r>
            <a:r>
              <a:rPr sz="2150" spc="20" dirty="0">
                <a:latin typeface="Calibri"/>
                <a:cs typeface="Calibri"/>
              </a:rPr>
              <a:t>(210303124306)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NALAJALA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25" dirty="0">
                <a:latin typeface="Calibri"/>
                <a:cs typeface="Calibri"/>
              </a:rPr>
              <a:t>GREESHMA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spc="20" dirty="0">
                <a:latin typeface="Calibri"/>
                <a:cs typeface="Calibri"/>
              </a:rPr>
              <a:t>(210304124106)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8437" y="3311311"/>
            <a:ext cx="5460005" cy="2319225"/>
          </a:xfrm>
          <a:prstGeom prst="rect">
            <a:avLst/>
          </a:prstGeom>
        </p:spPr>
        <p:txBody>
          <a:bodyPr vert="horz" wrap="square" lIns="0" tIns="104775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Guided</a:t>
            </a:r>
            <a:r>
              <a:rPr sz="2400" b="1" u="heavy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12700" marR="5080" algn="ctr">
              <a:lnSpc>
                <a:spcPct val="125200"/>
              </a:lnSpc>
            </a:pPr>
            <a:r>
              <a:rPr sz="2400" spc="-15" dirty="0">
                <a:latin typeface="Calibri"/>
                <a:cs typeface="Calibri"/>
              </a:rPr>
              <a:t>Asst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Prof. </a:t>
            </a:r>
            <a:r>
              <a:rPr lang="en-US" sz="2400" spc="-40" dirty="0">
                <a:latin typeface="Calibri"/>
                <a:cs typeface="Calibri"/>
              </a:rPr>
              <a:t>BHAVESH </a:t>
            </a:r>
            <a:r>
              <a:rPr lang="en-US" sz="2400" spc="-35" dirty="0">
                <a:latin typeface="Calibri"/>
                <a:cs typeface="Calibri"/>
              </a:rPr>
              <a:t>ATULBHAI VAGHELA </a:t>
            </a:r>
            <a:endParaRPr lang="en-US" sz="2400" dirty="0">
              <a:latin typeface="Calibri"/>
              <a:cs typeface="Calibri"/>
            </a:endParaRPr>
          </a:p>
          <a:p>
            <a:pPr marL="12700" marR="5080" algn="ctr">
              <a:lnSpc>
                <a:spcPct val="125200"/>
              </a:lnSpc>
            </a:pPr>
            <a:r>
              <a:rPr lang="en-US" sz="2400" spc="-35" dirty="0">
                <a:latin typeface="Calibri"/>
                <a:cs typeface="Calibri"/>
              </a:rPr>
              <a:t>&amp; Asst Prof. </a:t>
            </a:r>
            <a:r>
              <a:rPr sz="2400" spc="-5" dirty="0">
                <a:latin typeface="Calibri"/>
                <a:cs typeface="Calibri"/>
              </a:rPr>
              <a:t>Jeenal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Patel </a:t>
            </a:r>
            <a:r>
              <a:rPr sz="2400" spc="-530" dirty="0">
                <a:latin typeface="Calibri"/>
                <a:cs typeface="Calibri"/>
              </a:rPr>
              <a:t> </a:t>
            </a:r>
            <a:endParaRPr lang="en-US" sz="2400" dirty="0">
              <a:latin typeface="Calibri"/>
              <a:cs typeface="Calibri"/>
            </a:endParaRPr>
          </a:p>
          <a:p>
            <a:pPr marL="12700" marR="5080" algn="ctr">
              <a:lnSpc>
                <a:spcPct val="125200"/>
              </a:lnSpc>
            </a:pPr>
            <a:r>
              <a:rPr sz="2400" dirty="0">
                <a:latin typeface="Calibri"/>
                <a:cs typeface="Calibri"/>
              </a:rPr>
              <a:t>CSE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Department</a:t>
            </a:r>
            <a:endParaRPr sz="2400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400" spc="-45" dirty="0">
                <a:latin typeface="Calibri"/>
                <a:cs typeface="Calibri"/>
              </a:rPr>
              <a:t>PIET,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Parul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3866" y="6155055"/>
            <a:ext cx="44881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latin typeface="Calibri"/>
                <a:cs typeface="Calibri"/>
              </a:rPr>
              <a:t>Internal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Project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Presentation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August, </a:t>
            </a:r>
            <a:r>
              <a:rPr sz="2000" b="1" spc="-10" dirty="0">
                <a:latin typeface="Calibri"/>
                <a:cs typeface="Calibri"/>
              </a:rPr>
              <a:t>2024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179323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30" dirty="0">
                <a:latin typeface="Calibri Light"/>
                <a:cs typeface="Calibri Light"/>
              </a:rPr>
              <a:t>C</a:t>
            </a:r>
            <a:r>
              <a:rPr sz="4400" b="0" spc="-45" dirty="0">
                <a:latin typeface="Calibri Light"/>
                <a:cs typeface="Calibri Light"/>
              </a:rPr>
              <a:t>o</a:t>
            </a:r>
            <a:r>
              <a:rPr sz="4400" b="0" spc="-114" dirty="0">
                <a:latin typeface="Calibri Light"/>
                <a:cs typeface="Calibri Light"/>
              </a:rPr>
              <a:t>n</a:t>
            </a:r>
            <a:r>
              <a:rPr sz="4400" b="0" spc="-20" dirty="0">
                <a:latin typeface="Calibri Light"/>
                <a:cs typeface="Calibri Light"/>
              </a:rPr>
              <a:t>t</a:t>
            </a:r>
            <a:r>
              <a:rPr sz="4400" b="0" spc="-75" dirty="0">
                <a:latin typeface="Calibri Light"/>
                <a:cs typeface="Calibri Light"/>
              </a:rPr>
              <a:t>e</a:t>
            </a:r>
            <a:r>
              <a:rPr sz="4400" b="0" spc="-114" dirty="0">
                <a:latin typeface="Calibri Light"/>
                <a:cs typeface="Calibri Light"/>
              </a:rPr>
              <a:t>n</a:t>
            </a:r>
            <a:r>
              <a:rPr sz="4400" b="0" spc="10" dirty="0">
                <a:latin typeface="Calibri Light"/>
                <a:cs typeface="Calibri Light"/>
              </a:rPr>
              <a:t>t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9175" y="6441747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1422717"/>
            <a:ext cx="6416675" cy="4607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Introduction</a:t>
            </a:r>
            <a:endParaRPr sz="27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Problem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Statement</a:t>
            </a:r>
            <a:endParaRPr sz="27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dirty="0">
                <a:latin typeface="Calibri"/>
                <a:cs typeface="Calibri"/>
              </a:rPr>
              <a:t>Research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Paper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Summary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(in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Tabular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5" dirty="0">
                <a:latin typeface="Calibri"/>
                <a:cs typeface="Calibri"/>
              </a:rPr>
              <a:t>form)</a:t>
            </a:r>
            <a:endParaRPr sz="27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Flowchart </a:t>
            </a:r>
            <a:r>
              <a:rPr sz="2750" spc="-10" dirty="0">
                <a:latin typeface="Calibri"/>
                <a:cs typeface="Calibri"/>
              </a:rPr>
              <a:t>of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5" dirty="0">
                <a:latin typeface="Calibri"/>
                <a:cs typeface="Calibri"/>
              </a:rPr>
              <a:t>the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system</a:t>
            </a: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Implementation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Details</a:t>
            </a:r>
          </a:p>
          <a:p>
            <a:pPr marL="241300" indent="-22923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0" dirty="0">
                <a:latin typeface="Calibri"/>
                <a:cs typeface="Calibri"/>
              </a:rPr>
              <a:t>Demonstration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25" dirty="0">
                <a:latin typeface="Calibri"/>
                <a:cs typeface="Calibri"/>
              </a:rPr>
              <a:t>of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35" dirty="0">
                <a:latin typeface="Calibri"/>
                <a:cs typeface="Calibri"/>
              </a:rPr>
              <a:t>the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Project</a:t>
            </a:r>
          </a:p>
          <a:p>
            <a:pPr marL="241300" indent="-229235">
              <a:lnSpc>
                <a:spcPts val="3115"/>
              </a:lnSpc>
              <a:spcBef>
                <a:spcPts val="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-30" dirty="0">
                <a:latin typeface="Calibri"/>
                <a:cs typeface="Calibri"/>
              </a:rPr>
              <a:t>Testing</a:t>
            </a:r>
            <a:endParaRPr sz="2750" dirty="0">
              <a:latin typeface="Calibri"/>
              <a:cs typeface="Calibri"/>
            </a:endParaRPr>
          </a:p>
          <a:p>
            <a:pPr marL="699135" lvl="1" indent="-229235">
              <a:lnSpc>
                <a:spcPts val="2755"/>
              </a:lnSpc>
              <a:buFont typeface="Arial MT"/>
              <a:buChar char="•"/>
              <a:tabLst>
                <a:tab pos="699135" algn="l"/>
              </a:tabLst>
            </a:pPr>
            <a:r>
              <a:rPr sz="2450" spc="-40" dirty="0">
                <a:latin typeface="Calibri"/>
                <a:cs typeface="Calibri"/>
              </a:rPr>
              <a:t>Test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spc="20" dirty="0">
                <a:latin typeface="Calibri"/>
                <a:cs typeface="Calibri"/>
              </a:rPr>
              <a:t>cases</a:t>
            </a:r>
            <a:endParaRPr sz="24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5" dirty="0">
                <a:latin typeface="Calibri"/>
                <a:cs typeface="Calibri"/>
              </a:rPr>
              <a:t>Conclusion</a:t>
            </a:r>
            <a:endParaRPr sz="27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15" dirty="0">
                <a:latin typeface="Calibri"/>
                <a:cs typeface="Calibri"/>
              </a:rPr>
              <a:t>Future</a:t>
            </a:r>
            <a:r>
              <a:rPr sz="2750" spc="-15" dirty="0">
                <a:latin typeface="Calibri"/>
                <a:cs typeface="Calibri"/>
              </a:rPr>
              <a:t> Work</a:t>
            </a:r>
            <a:endParaRPr sz="275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dirty="0">
                <a:latin typeface="Calibri"/>
                <a:cs typeface="Calibri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27698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45" dirty="0">
                <a:latin typeface="Calibri Light"/>
                <a:cs typeface="Calibri Light"/>
              </a:rPr>
              <a:t>Introduction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9175" y="6441747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2155" y="1402143"/>
            <a:ext cx="10472420" cy="441120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latin typeface="Calibri"/>
                <a:cs typeface="Calibri"/>
              </a:rPr>
              <a:t>Overview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of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the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Project</a:t>
            </a:r>
            <a:endParaRPr sz="2000" dirty="0">
              <a:latin typeface="Calibri"/>
              <a:cs typeface="Calibri"/>
            </a:endParaRPr>
          </a:p>
          <a:p>
            <a:pPr marL="469265" marR="5080" lvl="1">
              <a:lnSpc>
                <a:spcPct val="89700"/>
              </a:lnSpc>
              <a:spcBef>
                <a:spcPts val="1000"/>
              </a:spcBef>
              <a:tabLst>
                <a:tab pos="241300" algn="l"/>
                <a:tab pos="241935" algn="l"/>
              </a:tabLst>
            </a:pP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project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focuses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emotion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sentiment </a:t>
            </a:r>
            <a:r>
              <a:rPr sz="2000" spc="-10" dirty="0">
                <a:latin typeface="Calibri"/>
                <a:cs typeface="Calibri"/>
              </a:rPr>
              <a:t>analysis,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aiming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interpret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human </a:t>
            </a:r>
            <a:r>
              <a:rPr sz="2000" dirty="0">
                <a:latin typeface="Calibri"/>
                <a:cs typeface="Calibri"/>
              </a:rPr>
              <a:t> emotions through </a:t>
            </a:r>
            <a:r>
              <a:rPr sz="2000" spc="-5" dirty="0">
                <a:latin typeface="Calibri"/>
                <a:cs typeface="Calibri"/>
              </a:rPr>
              <a:t>facial expressions </a:t>
            </a:r>
            <a:r>
              <a:rPr sz="2000" spc="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text. </a:t>
            </a:r>
            <a:r>
              <a:rPr sz="2000" spc="10" dirty="0">
                <a:latin typeface="Calibri"/>
                <a:cs typeface="Calibri"/>
              </a:rPr>
              <a:t>It </a:t>
            </a:r>
            <a:r>
              <a:rPr sz="2000" spc="-10" dirty="0">
                <a:latin typeface="Calibri"/>
                <a:cs typeface="Calibri"/>
              </a:rPr>
              <a:t>combines </a:t>
            </a:r>
            <a:r>
              <a:rPr sz="2000" spc="-15" dirty="0">
                <a:latin typeface="Calibri"/>
                <a:cs typeface="Calibri"/>
              </a:rPr>
              <a:t>AI </a:t>
            </a:r>
            <a:r>
              <a:rPr sz="2000" dirty="0">
                <a:latin typeface="Calibri"/>
                <a:cs typeface="Calibri"/>
              </a:rPr>
              <a:t>techniques </a:t>
            </a:r>
            <a:r>
              <a:rPr sz="2000" spc="-3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analyze non-verbal </a:t>
            </a:r>
            <a:r>
              <a:rPr sz="2000" spc="10" dirty="0">
                <a:latin typeface="Calibri"/>
                <a:cs typeface="Calibri"/>
              </a:rPr>
              <a:t>cues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5" dirty="0">
                <a:latin typeface="Calibri"/>
                <a:cs typeface="Calibri"/>
              </a:rPr>
              <a:t>faces </a:t>
            </a:r>
            <a:r>
              <a:rPr sz="2000" spc="1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verbal </a:t>
            </a:r>
            <a:r>
              <a:rPr sz="2000" spc="5" dirty="0">
                <a:latin typeface="Calibri"/>
                <a:cs typeface="Calibri"/>
              </a:rPr>
              <a:t>cues </a:t>
            </a:r>
            <a:r>
              <a:rPr sz="2000" spc="10" dirty="0">
                <a:latin typeface="Calibri"/>
                <a:cs typeface="Calibri"/>
              </a:rPr>
              <a:t>from </a:t>
            </a:r>
            <a:r>
              <a:rPr sz="2000" spc="-10" dirty="0">
                <a:latin typeface="Calibri"/>
                <a:cs typeface="Calibri"/>
              </a:rPr>
              <a:t>text, providing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comprehensive </a:t>
            </a:r>
            <a:r>
              <a:rPr sz="2000" spc="-10" dirty="0">
                <a:latin typeface="Calibri"/>
                <a:cs typeface="Calibri"/>
              </a:rPr>
              <a:t>understanding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emotional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states.</a:t>
            </a:r>
            <a:endParaRPr sz="20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latin typeface="Calibri"/>
                <a:cs typeface="Calibri"/>
              </a:rPr>
              <a:t>Objective</a:t>
            </a:r>
            <a:endParaRPr sz="2000" dirty="0">
              <a:latin typeface="Calibri"/>
              <a:cs typeface="Calibri"/>
            </a:endParaRPr>
          </a:p>
          <a:p>
            <a:pPr marL="469265" marR="252095" lvl="1">
              <a:lnSpc>
                <a:spcPct val="89200"/>
              </a:lnSpc>
              <a:spcBef>
                <a:spcPts val="1090"/>
              </a:spcBef>
              <a:tabLst>
                <a:tab pos="241300" algn="l"/>
                <a:tab pos="24193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goal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system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that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accurately </a:t>
            </a:r>
            <a:r>
              <a:rPr sz="2000" dirty="0">
                <a:latin typeface="Calibri"/>
                <a:cs typeface="Calibri"/>
              </a:rPr>
              <a:t>detects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emotions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facial images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and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analyzes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sentiments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text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inputs,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offering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insights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user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emotions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applications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like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customer </a:t>
            </a:r>
            <a:r>
              <a:rPr sz="2000" dirty="0">
                <a:latin typeface="Calibri"/>
                <a:cs typeface="Calibri"/>
              </a:rPr>
              <a:t> service,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mental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health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monitoring,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social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media analysis.</a:t>
            </a: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latin typeface="Calibri"/>
                <a:cs typeface="Calibri"/>
              </a:rPr>
              <a:t>Motivation</a:t>
            </a:r>
            <a:endParaRPr sz="2000" dirty="0">
              <a:latin typeface="Calibri"/>
              <a:cs typeface="Calibri"/>
            </a:endParaRPr>
          </a:p>
          <a:p>
            <a:pPr marL="469265" marR="743585" lvl="1">
              <a:lnSpc>
                <a:spcPts val="2180"/>
              </a:lnSpc>
              <a:spcBef>
                <a:spcPts val="1010"/>
              </a:spcBef>
              <a:tabLst>
                <a:tab pos="241300" algn="l"/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Understanding </a:t>
            </a:r>
            <a:r>
              <a:rPr sz="2000" dirty="0">
                <a:latin typeface="Calibri"/>
                <a:cs typeface="Calibri"/>
              </a:rPr>
              <a:t>emotions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spc="-15" dirty="0">
                <a:latin typeface="Calibri"/>
                <a:cs typeface="Calibri"/>
              </a:rPr>
              <a:t>vital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20" dirty="0">
                <a:latin typeface="Calibri"/>
                <a:cs typeface="Calibri"/>
              </a:rPr>
              <a:t>many </a:t>
            </a:r>
            <a:r>
              <a:rPr sz="2000" spc="5" dirty="0">
                <a:latin typeface="Calibri"/>
                <a:cs typeface="Calibri"/>
              </a:rPr>
              <a:t>fields. </a:t>
            </a:r>
            <a:r>
              <a:rPr sz="2000" spc="15" dirty="0">
                <a:latin typeface="Calibri"/>
                <a:cs typeface="Calibri"/>
              </a:rPr>
              <a:t>This </a:t>
            </a:r>
            <a:r>
              <a:rPr sz="2000" spc="-5" dirty="0">
                <a:latin typeface="Calibri"/>
                <a:cs typeface="Calibri"/>
              </a:rPr>
              <a:t>technology </a:t>
            </a:r>
            <a:r>
              <a:rPr sz="2000" dirty="0">
                <a:latin typeface="Calibri"/>
                <a:cs typeface="Calibri"/>
              </a:rPr>
              <a:t>enhances human-computer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interaction, </a:t>
            </a:r>
            <a:r>
              <a:rPr sz="2000" spc="-15" dirty="0">
                <a:latin typeface="Calibri"/>
                <a:cs typeface="Calibri"/>
              </a:rPr>
              <a:t>improves </a:t>
            </a:r>
            <a:r>
              <a:rPr sz="2000" spc="-5" dirty="0">
                <a:latin typeface="Calibri"/>
                <a:cs typeface="Calibri"/>
              </a:rPr>
              <a:t>customer </a:t>
            </a:r>
            <a:r>
              <a:rPr sz="2000" dirty="0">
                <a:latin typeface="Calibri"/>
                <a:cs typeface="Calibri"/>
              </a:rPr>
              <a:t>experiences, </a:t>
            </a:r>
            <a:r>
              <a:rPr sz="2000" spc="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supports </a:t>
            </a:r>
            <a:r>
              <a:rPr sz="2000" spc="-5" dirty="0">
                <a:latin typeface="Calibri"/>
                <a:cs typeface="Calibri"/>
              </a:rPr>
              <a:t>mental </a:t>
            </a:r>
            <a:r>
              <a:rPr sz="2000" dirty="0">
                <a:latin typeface="Calibri"/>
                <a:cs typeface="Calibri"/>
              </a:rPr>
              <a:t>health </a:t>
            </a:r>
            <a:r>
              <a:rPr sz="2000" spc="5" dirty="0">
                <a:latin typeface="Calibri"/>
                <a:cs typeface="Calibri"/>
              </a:rPr>
              <a:t>by </a:t>
            </a:r>
            <a:r>
              <a:rPr sz="2000" spc="-5" dirty="0">
                <a:latin typeface="Calibri"/>
                <a:cs typeface="Calibri"/>
              </a:rPr>
              <a:t>recognizing </a:t>
            </a:r>
            <a:r>
              <a:rPr sz="2000" spc="5" dirty="0">
                <a:latin typeface="Calibri"/>
                <a:cs typeface="Calibri"/>
              </a:rPr>
              <a:t>and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responding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emotions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sentiments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real-time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788" y="410198"/>
            <a:ext cx="42913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50" dirty="0">
                <a:latin typeface="Calibri Light"/>
                <a:cs typeface="Calibri Light"/>
              </a:rPr>
              <a:t>Problem</a:t>
            </a:r>
            <a:r>
              <a:rPr sz="4400" b="0" spc="-165" dirty="0">
                <a:latin typeface="Calibri Light"/>
                <a:cs typeface="Calibri Light"/>
              </a:rPr>
              <a:t> </a:t>
            </a:r>
            <a:r>
              <a:rPr sz="4400" b="0" spc="-55" dirty="0">
                <a:latin typeface="Calibri Light"/>
                <a:cs typeface="Calibri Light"/>
              </a:rPr>
              <a:t>Statement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9175" y="6441747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952" y="1268158"/>
            <a:ext cx="10495915" cy="466614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latin typeface="Calibri"/>
                <a:cs typeface="Calibri"/>
              </a:rPr>
              <a:t>Current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Challenges</a:t>
            </a:r>
            <a:endParaRPr sz="2000" dirty="0">
              <a:latin typeface="Calibri"/>
              <a:cs typeface="Calibri"/>
            </a:endParaRPr>
          </a:p>
          <a:p>
            <a:pPr marL="469265" marR="80645" lvl="1">
              <a:lnSpc>
                <a:spcPct val="90200"/>
              </a:lnSpc>
              <a:spcBef>
                <a:spcPts val="990"/>
              </a:spcBef>
              <a:tabLst>
                <a:tab pos="241300" algn="l"/>
                <a:tab pos="241935" algn="l"/>
              </a:tabLst>
            </a:pPr>
            <a:r>
              <a:rPr sz="2000" spc="-5" dirty="0">
                <a:latin typeface="Calibri"/>
                <a:cs typeface="Calibri"/>
              </a:rPr>
              <a:t>Detecting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emotions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facial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expressions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sentiments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text</a:t>
            </a:r>
            <a:r>
              <a:rPr sz="2000" dirty="0">
                <a:latin typeface="Calibri"/>
                <a:cs typeface="Calibri"/>
              </a:rPr>
              <a:t> poses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several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challenges.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facial </a:t>
            </a:r>
            <a:r>
              <a:rPr sz="2000" dirty="0">
                <a:latin typeface="Calibri"/>
                <a:cs typeface="Calibri"/>
              </a:rPr>
              <a:t>emotion detection, </a:t>
            </a:r>
            <a:r>
              <a:rPr sz="2000" spc="-5" dirty="0">
                <a:latin typeface="Calibri"/>
                <a:cs typeface="Calibri"/>
              </a:rPr>
              <a:t>varying </a:t>
            </a:r>
            <a:r>
              <a:rPr sz="2000" dirty="0">
                <a:latin typeface="Calibri"/>
                <a:cs typeface="Calibri"/>
              </a:rPr>
              <a:t>lighting </a:t>
            </a:r>
            <a:r>
              <a:rPr sz="2000" spc="-5" dirty="0">
                <a:latin typeface="Calibri"/>
                <a:cs typeface="Calibri"/>
              </a:rPr>
              <a:t>conditions, occlusions </a:t>
            </a:r>
            <a:r>
              <a:rPr sz="2000" spc="-25" dirty="0">
                <a:latin typeface="Calibri"/>
                <a:cs typeface="Calibri"/>
              </a:rPr>
              <a:t>(like </a:t>
            </a:r>
            <a:r>
              <a:rPr sz="2000" dirty="0">
                <a:latin typeface="Calibri"/>
                <a:cs typeface="Calibri"/>
              </a:rPr>
              <a:t>glasses or </a:t>
            </a:r>
            <a:r>
              <a:rPr sz="2000" spc="5" dirty="0">
                <a:latin typeface="Calibri"/>
                <a:cs typeface="Calibri"/>
              </a:rPr>
              <a:t>masks), and </a:t>
            </a:r>
            <a:r>
              <a:rPr sz="2000" spc="-5" dirty="0">
                <a:latin typeface="Calibri"/>
                <a:cs typeface="Calibri"/>
              </a:rPr>
              <a:t>diverse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expressions </a:t>
            </a:r>
            <a:r>
              <a:rPr sz="2000" dirty="0">
                <a:latin typeface="Calibri"/>
                <a:cs typeface="Calibri"/>
              </a:rPr>
              <a:t>across </a:t>
            </a:r>
            <a:r>
              <a:rPr sz="2000" spc="-15" dirty="0">
                <a:latin typeface="Calibri"/>
                <a:cs typeface="Calibri"/>
              </a:rPr>
              <a:t>different </a:t>
            </a:r>
            <a:r>
              <a:rPr sz="2000" dirty="0">
                <a:latin typeface="Calibri"/>
                <a:cs typeface="Calibri"/>
              </a:rPr>
              <a:t>individuals </a:t>
            </a:r>
            <a:r>
              <a:rPr sz="2000" spc="-5" dirty="0">
                <a:latin typeface="Calibri"/>
                <a:cs typeface="Calibri"/>
              </a:rPr>
              <a:t>make accurate </a:t>
            </a:r>
            <a:r>
              <a:rPr sz="2000" spc="-10" dirty="0">
                <a:latin typeface="Calibri"/>
                <a:cs typeface="Calibri"/>
              </a:rPr>
              <a:t>recognition </a:t>
            </a:r>
            <a:r>
              <a:rPr sz="2000" dirty="0">
                <a:latin typeface="Calibri"/>
                <a:cs typeface="Calibri"/>
              </a:rPr>
              <a:t>difficult. The complexity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increases when </a:t>
            </a:r>
            <a:r>
              <a:rPr sz="2000" spc="5" dirty="0">
                <a:latin typeface="Calibri"/>
                <a:cs typeface="Calibri"/>
              </a:rPr>
              <a:t>dealing </a:t>
            </a:r>
            <a:r>
              <a:rPr sz="2000" dirty="0">
                <a:latin typeface="Calibri"/>
                <a:cs typeface="Calibri"/>
              </a:rPr>
              <a:t>with </a:t>
            </a:r>
            <a:r>
              <a:rPr sz="2000" spc="5" dirty="0">
                <a:latin typeface="Calibri"/>
                <a:cs typeface="Calibri"/>
              </a:rPr>
              <a:t>subtle </a:t>
            </a:r>
            <a:r>
              <a:rPr sz="2000" dirty="0">
                <a:latin typeface="Calibri"/>
                <a:cs typeface="Calibri"/>
              </a:rPr>
              <a:t>emotions or </a:t>
            </a:r>
            <a:r>
              <a:rPr sz="2000" spc="-10" dirty="0">
                <a:latin typeface="Calibri"/>
                <a:cs typeface="Calibri"/>
              </a:rPr>
              <a:t>when </a:t>
            </a:r>
            <a:r>
              <a:rPr sz="2000" spc="-5" dirty="0">
                <a:latin typeface="Calibri"/>
                <a:cs typeface="Calibri"/>
              </a:rPr>
              <a:t>facial </a:t>
            </a:r>
            <a:r>
              <a:rPr sz="2000" spc="-10" dirty="0">
                <a:latin typeface="Calibri"/>
                <a:cs typeface="Calibri"/>
              </a:rPr>
              <a:t>expressions </a:t>
            </a:r>
            <a:r>
              <a:rPr sz="200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ambiguous. </a:t>
            </a:r>
            <a:r>
              <a:rPr sz="2000" spc="15" dirty="0">
                <a:latin typeface="Calibri"/>
                <a:cs typeface="Calibri"/>
              </a:rPr>
              <a:t>In 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sentiment </a:t>
            </a:r>
            <a:r>
              <a:rPr sz="2000" dirty="0">
                <a:latin typeface="Calibri"/>
                <a:cs typeface="Calibri"/>
              </a:rPr>
              <a:t>analysis, </a:t>
            </a:r>
            <a:r>
              <a:rPr sz="2000" spc="-5" dirty="0">
                <a:latin typeface="Calibri"/>
                <a:cs typeface="Calibri"/>
              </a:rPr>
              <a:t>understanding </a:t>
            </a:r>
            <a:r>
              <a:rPr sz="2000" spc="5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context </a:t>
            </a:r>
            <a:r>
              <a:rPr sz="2000" spc="-2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nuances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5" dirty="0">
                <a:latin typeface="Calibri"/>
                <a:cs typeface="Calibri"/>
              </a:rPr>
              <a:t>language, </a:t>
            </a:r>
            <a:r>
              <a:rPr sz="2000" dirty="0">
                <a:latin typeface="Calibri"/>
                <a:cs typeface="Calibri"/>
              </a:rPr>
              <a:t>including </a:t>
            </a:r>
            <a:r>
              <a:rPr sz="2000" spc="-5" dirty="0">
                <a:latin typeface="Calibri"/>
                <a:cs typeface="Calibri"/>
              </a:rPr>
              <a:t>sarcasm, </a:t>
            </a:r>
            <a:r>
              <a:rPr sz="2000" spc="10" dirty="0">
                <a:latin typeface="Calibri"/>
                <a:cs typeface="Calibri"/>
              </a:rPr>
              <a:t>slang, 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varying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tones,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challenging.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Additionally,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language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diversity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mixed 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sentiments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single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text</a:t>
            </a:r>
            <a:r>
              <a:rPr sz="2000" spc="-10" dirty="0">
                <a:latin typeface="Calibri"/>
                <a:cs typeface="Calibri"/>
              </a:rPr>
              <a:t> further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complicate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analysis.</a:t>
            </a:r>
            <a:endParaRPr sz="20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latin typeface="Calibri"/>
                <a:cs typeface="Calibri"/>
              </a:rPr>
              <a:t>Research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Gap</a:t>
            </a:r>
            <a:endParaRPr sz="2000" dirty="0">
              <a:latin typeface="Calibri"/>
              <a:cs typeface="Calibri"/>
            </a:endParaRPr>
          </a:p>
          <a:p>
            <a:pPr marL="469265" marR="5080" lvl="1">
              <a:lnSpc>
                <a:spcPct val="88900"/>
              </a:lnSpc>
              <a:spcBef>
                <a:spcPts val="1019"/>
              </a:spcBef>
              <a:tabLst>
                <a:tab pos="241300" algn="l"/>
                <a:tab pos="241935" algn="l"/>
              </a:tabLst>
            </a:pPr>
            <a:r>
              <a:rPr sz="2000" dirty="0">
                <a:latin typeface="Calibri"/>
                <a:cs typeface="Calibri"/>
              </a:rPr>
              <a:t>While </a:t>
            </a:r>
            <a:r>
              <a:rPr sz="2000" spc="5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are many </a:t>
            </a:r>
            <a:r>
              <a:rPr sz="2000" spc="-20" dirty="0">
                <a:latin typeface="Calibri"/>
                <a:cs typeface="Calibri"/>
              </a:rPr>
              <a:t>systems </a:t>
            </a:r>
            <a:r>
              <a:rPr sz="2000" spc="-10" dirty="0">
                <a:latin typeface="Calibri"/>
                <a:cs typeface="Calibri"/>
              </a:rPr>
              <a:t>available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either </a:t>
            </a:r>
            <a:r>
              <a:rPr sz="2000" spc="-5" dirty="0">
                <a:latin typeface="Calibri"/>
                <a:cs typeface="Calibri"/>
              </a:rPr>
              <a:t>facial </a:t>
            </a:r>
            <a:r>
              <a:rPr sz="2000" dirty="0">
                <a:latin typeface="Calibri"/>
                <a:cs typeface="Calibri"/>
              </a:rPr>
              <a:t>emotion </a:t>
            </a:r>
            <a:r>
              <a:rPr sz="2000" spc="-5" dirty="0">
                <a:latin typeface="Calibri"/>
                <a:cs typeface="Calibri"/>
              </a:rPr>
              <a:t>detection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-10" dirty="0">
                <a:latin typeface="Calibri"/>
                <a:cs typeface="Calibri"/>
              </a:rPr>
              <a:t>sentiment </a:t>
            </a:r>
            <a:r>
              <a:rPr sz="2000" dirty="0">
                <a:latin typeface="Calibri"/>
                <a:cs typeface="Calibri"/>
              </a:rPr>
              <a:t>analysis,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few </a:t>
            </a:r>
            <a:r>
              <a:rPr sz="2000" spc="-10" dirty="0">
                <a:latin typeface="Calibri"/>
                <a:cs typeface="Calibri"/>
              </a:rPr>
              <a:t>provide </a:t>
            </a:r>
            <a:r>
              <a:rPr sz="2000" spc="10" dirty="0">
                <a:latin typeface="Calibri"/>
                <a:cs typeface="Calibri"/>
              </a:rPr>
              <a:t>an </a:t>
            </a:r>
            <a:r>
              <a:rPr sz="2000" spc="-10" dirty="0">
                <a:latin typeface="Calibri"/>
                <a:cs typeface="Calibri"/>
              </a:rPr>
              <a:t>integrated </a:t>
            </a:r>
            <a:r>
              <a:rPr sz="2000" dirty="0">
                <a:latin typeface="Calibri"/>
                <a:cs typeface="Calibri"/>
              </a:rPr>
              <a:t>solution </a:t>
            </a:r>
            <a:r>
              <a:rPr sz="2000" spc="-15" dirty="0">
                <a:latin typeface="Calibri"/>
                <a:cs typeface="Calibri"/>
              </a:rPr>
              <a:t>that </a:t>
            </a:r>
            <a:r>
              <a:rPr sz="2000" spc="-10" dirty="0">
                <a:latin typeface="Calibri"/>
                <a:cs typeface="Calibri"/>
              </a:rPr>
              <a:t>effectively </a:t>
            </a:r>
            <a:r>
              <a:rPr sz="2000" spc="-5" dirty="0">
                <a:latin typeface="Calibri"/>
                <a:cs typeface="Calibri"/>
              </a:rPr>
              <a:t>combines </a:t>
            </a:r>
            <a:r>
              <a:rPr sz="2000" dirty="0">
                <a:latin typeface="Calibri"/>
                <a:cs typeface="Calibri"/>
              </a:rPr>
              <a:t>both. </a:t>
            </a:r>
            <a:r>
              <a:rPr sz="2000" spc="-5" dirty="0">
                <a:latin typeface="Calibri"/>
                <a:cs typeface="Calibri"/>
              </a:rPr>
              <a:t>Most existing </a:t>
            </a:r>
            <a:r>
              <a:rPr sz="2000" dirty="0">
                <a:latin typeface="Calibri"/>
                <a:cs typeface="Calibri"/>
              </a:rPr>
              <a:t>models </a:t>
            </a:r>
            <a:r>
              <a:rPr sz="2000" spc="-10" dirty="0">
                <a:latin typeface="Calibri"/>
                <a:cs typeface="Calibri"/>
              </a:rPr>
              <a:t>focus </a:t>
            </a:r>
            <a:r>
              <a:rPr sz="2000" dirty="0">
                <a:latin typeface="Calibri"/>
                <a:cs typeface="Calibri"/>
              </a:rPr>
              <a:t>on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domain,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either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facial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textual,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lacking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simultaneously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process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and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analyze </a:t>
            </a:r>
            <a:r>
              <a:rPr sz="2000" dirty="0">
                <a:latin typeface="Calibri"/>
                <a:cs typeface="Calibri"/>
              </a:rPr>
              <a:t> multimodal </a:t>
            </a:r>
            <a:r>
              <a:rPr sz="2000" spc="-10" dirty="0">
                <a:latin typeface="Calibri"/>
                <a:cs typeface="Calibri"/>
              </a:rPr>
              <a:t>data. </a:t>
            </a:r>
            <a:r>
              <a:rPr sz="2000" spc="-5" dirty="0">
                <a:latin typeface="Calibri"/>
                <a:cs typeface="Calibri"/>
              </a:rPr>
              <a:t>This gap </a:t>
            </a:r>
            <a:r>
              <a:rPr sz="2000" dirty="0">
                <a:latin typeface="Calibri"/>
                <a:cs typeface="Calibri"/>
              </a:rPr>
              <a:t>highlights </a:t>
            </a:r>
            <a:r>
              <a:rPr sz="2000" spc="5" dirty="0">
                <a:latin typeface="Calibri"/>
                <a:cs typeface="Calibri"/>
              </a:rPr>
              <a:t>the </a:t>
            </a:r>
            <a:r>
              <a:rPr sz="2000" spc="10" dirty="0">
                <a:latin typeface="Calibri"/>
                <a:cs typeface="Calibri"/>
              </a:rPr>
              <a:t>need </a:t>
            </a:r>
            <a:r>
              <a:rPr sz="2000" spc="-5" dirty="0">
                <a:latin typeface="Calibri"/>
                <a:cs typeface="Calibri"/>
              </a:rPr>
              <a:t>for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unified </a:t>
            </a:r>
            <a:r>
              <a:rPr sz="2000" spc="-15" dirty="0">
                <a:latin typeface="Calibri"/>
                <a:cs typeface="Calibri"/>
              </a:rPr>
              <a:t>system </a:t>
            </a:r>
            <a:r>
              <a:rPr sz="2000" spc="5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can handle both </a:t>
            </a:r>
            <a:r>
              <a:rPr sz="2000" spc="-10" dirty="0">
                <a:latin typeface="Calibri"/>
                <a:cs typeface="Calibri"/>
              </a:rPr>
              <a:t>visual </a:t>
            </a:r>
            <a:r>
              <a:rPr sz="2000" spc="-20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textual information </a:t>
            </a:r>
            <a:r>
              <a:rPr sz="2000" spc="10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provide </a:t>
            </a:r>
            <a:r>
              <a:rPr sz="2000" spc="1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comprehensive understanding </a:t>
            </a:r>
            <a:r>
              <a:rPr sz="2000" dirty="0">
                <a:latin typeface="Calibri"/>
                <a:cs typeface="Calibri"/>
              </a:rPr>
              <a:t>of human </a:t>
            </a:r>
            <a:r>
              <a:rPr sz="2000" spc="-5" dirty="0">
                <a:latin typeface="Calibri"/>
                <a:cs typeface="Calibri"/>
              </a:rPr>
              <a:t>emotions, </a:t>
            </a:r>
            <a:r>
              <a:rPr sz="2000" spc="-10" dirty="0">
                <a:latin typeface="Calibri"/>
                <a:cs typeface="Calibri"/>
              </a:rPr>
              <a:t>which</a:t>
            </a:r>
            <a:r>
              <a:rPr lang="en-IN" sz="2000" spc="-10" dirty="0">
                <a:latin typeface="Calibri"/>
                <a:cs typeface="Calibri"/>
              </a:rPr>
              <a:t> </a:t>
            </a:r>
            <a:r>
              <a:rPr lang="en-IN" sz="2000" spc="3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crucial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more</a:t>
            </a:r>
            <a:r>
              <a:rPr lang="en-IN" sz="2000" spc="35" dirty="0">
                <a:latin typeface="Calibri"/>
                <a:cs typeface="Calibri"/>
              </a:rPr>
              <a:t> </a:t>
            </a:r>
            <a:r>
              <a:rPr lang="en-IN" sz="2000" spc="-15" dirty="0">
                <a:latin typeface="Calibri"/>
                <a:cs typeface="Calibri"/>
              </a:rPr>
              <a:t>effective</a:t>
            </a:r>
            <a:r>
              <a:rPr lang="en-IN" sz="2000" spc="-4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human-computer</a:t>
            </a:r>
            <a:r>
              <a:rPr lang="en-IN" sz="2000" spc="35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interaction.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8775" y="0"/>
            <a:ext cx="2943225" cy="914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365760"/>
            <a:ext cx="6501132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Research</a:t>
            </a:r>
            <a:r>
              <a:rPr lang="en-IN" sz="4400" b="0" spc="8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sz="4400" b="0" spc="-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Paper</a:t>
            </a:r>
            <a:r>
              <a:rPr lang="en-IN" sz="4400" b="0" spc="6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4400" b="0" spc="-50" dirty="0">
                <a:latin typeface="Calibri Light"/>
                <a:cs typeface="Calibri Light"/>
              </a:rPr>
              <a:t>S</a:t>
            </a:r>
            <a:r>
              <a:rPr sz="4400" b="0" spc="-40" dirty="0">
                <a:latin typeface="Calibri Light"/>
                <a:cs typeface="Calibri Light"/>
              </a:rPr>
              <a:t>u</a:t>
            </a:r>
            <a:r>
              <a:rPr sz="4400" b="0" spc="-100" dirty="0">
                <a:latin typeface="Calibri Light"/>
                <a:cs typeface="Calibri Light"/>
              </a:rPr>
              <a:t>m</a:t>
            </a:r>
            <a:r>
              <a:rPr sz="4400" b="0" spc="-30" dirty="0">
                <a:latin typeface="Calibri Light"/>
                <a:cs typeface="Calibri Light"/>
              </a:rPr>
              <a:t>m</a:t>
            </a:r>
            <a:r>
              <a:rPr sz="4400" b="0" spc="-50" dirty="0">
                <a:latin typeface="Calibri Light"/>
                <a:cs typeface="Calibri Light"/>
              </a:rPr>
              <a:t>a</a:t>
            </a:r>
            <a:r>
              <a:rPr sz="4400" b="0" spc="-20" dirty="0">
                <a:latin typeface="Calibri Light"/>
                <a:cs typeface="Calibri Light"/>
              </a:rPr>
              <a:t>r</a:t>
            </a:r>
            <a:r>
              <a:rPr sz="4400" b="0" spc="10" dirty="0">
                <a:latin typeface="Calibri Light"/>
                <a:cs typeface="Calibri Light"/>
              </a:rPr>
              <a:t>y</a:t>
            </a:r>
            <a:endParaRPr sz="4400" dirty="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1295400"/>
            <a:ext cx="11132942" cy="46979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179175" y="6441747"/>
            <a:ext cx="1028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089F-3570-D85D-370C-98543AFE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97801"/>
            <a:ext cx="5701984" cy="615553"/>
          </a:xfrm>
        </p:spPr>
        <p:txBody>
          <a:bodyPr/>
          <a:lstStyle/>
          <a:p>
            <a:r>
              <a:rPr lang="en-IN" sz="4000" b="0" spc="-2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Flowchart</a:t>
            </a:r>
            <a:r>
              <a:rPr lang="en-IN" sz="4000" b="0" spc="-3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</a:t>
            </a:r>
            <a:r>
              <a:rPr lang="en-IN" sz="4000" b="0" spc="-3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sz="4000" b="0" spc="-1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en-IN" sz="4000" b="0" spc="-10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N" sz="4000" b="0" spc="-4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system</a:t>
            </a:r>
            <a:endParaRPr lang="en-IN" sz="4000" b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A03DC8-9F70-A8DC-91C6-CF519EF903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7391400" cy="51054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CBA8E-251F-67AE-0738-B651B034788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458200" y="1577340"/>
            <a:ext cx="3124200" cy="3693319"/>
          </a:xfrm>
        </p:spPr>
        <p:txBody>
          <a:bodyPr/>
          <a:lstStyle/>
          <a:p>
            <a:r>
              <a:rPr lang="en-US" sz="2000" b="1" spc="-10" dirty="0">
                <a:latin typeface="Calibri"/>
                <a:cs typeface="Calibri"/>
              </a:rPr>
              <a:t>Input: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Face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image,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Image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Preprocessing: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5" dirty="0">
                <a:latin typeface="Calibri"/>
                <a:cs typeface="Calibri"/>
              </a:rPr>
              <a:t>Face </a:t>
            </a:r>
            <a:r>
              <a:rPr lang="en-US" sz="2000" spc="-10" dirty="0">
                <a:latin typeface="Calibri"/>
                <a:cs typeface="Calibri"/>
              </a:rPr>
              <a:t> detection, </a:t>
            </a:r>
            <a:r>
              <a:rPr lang="en-US" sz="2000" spc="-15" dirty="0">
                <a:latin typeface="Calibri"/>
                <a:cs typeface="Calibri"/>
              </a:rPr>
              <a:t>text </a:t>
            </a:r>
            <a:r>
              <a:rPr lang="en-US" sz="2000" spc="-5" dirty="0">
                <a:latin typeface="Calibri"/>
                <a:cs typeface="Calibri"/>
              </a:rPr>
              <a:t>cleaning </a:t>
            </a:r>
            <a:r>
              <a:rPr lang="en-US" sz="2000" spc="-5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Feature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Extraction: 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Extract facial </a:t>
            </a:r>
            <a:r>
              <a:rPr lang="en-US" sz="2000" spc="-20" dirty="0">
                <a:latin typeface="Calibri"/>
                <a:cs typeface="Calibri"/>
              </a:rPr>
              <a:t>features, 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tokenize </a:t>
            </a:r>
            <a:r>
              <a:rPr lang="en-US" sz="2000" spc="-15" dirty="0">
                <a:latin typeface="Calibri"/>
                <a:cs typeface="Calibri"/>
              </a:rPr>
              <a:t>text.</a:t>
            </a:r>
          </a:p>
          <a:p>
            <a:r>
              <a:rPr lang="en-US" sz="2000" spc="-15" dirty="0">
                <a:latin typeface="Calibri"/>
                <a:cs typeface="Calibri"/>
              </a:rPr>
              <a:t>	</a:t>
            </a:r>
          </a:p>
          <a:p>
            <a:r>
              <a:rPr lang="en-US" sz="2000" b="1" spc="-10" dirty="0">
                <a:latin typeface="Calibri"/>
                <a:cs typeface="Calibri"/>
              </a:rPr>
              <a:t>Classification: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Use 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ML/DL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models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for 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emotion </a:t>
            </a:r>
            <a:r>
              <a:rPr lang="en-US" sz="2000" spc="-5" dirty="0">
                <a:latin typeface="Calibri"/>
                <a:cs typeface="Calibri"/>
              </a:rPr>
              <a:t>and </a:t>
            </a:r>
            <a:r>
              <a:rPr lang="en-US" sz="2000" spc="-10" dirty="0">
                <a:latin typeface="Calibri"/>
                <a:cs typeface="Calibri"/>
              </a:rPr>
              <a:t>sentiment </a:t>
            </a:r>
            <a:r>
              <a:rPr lang="en-US" sz="2000" spc="-5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classification.</a:t>
            </a:r>
          </a:p>
          <a:p>
            <a:endParaRPr lang="en-US" sz="2000" spc="-10" dirty="0">
              <a:latin typeface="Calibri"/>
              <a:cs typeface="Calibri"/>
            </a:endParaRPr>
          </a:p>
          <a:p>
            <a:r>
              <a:rPr lang="en-US" sz="2000" b="1" spc="-5" dirty="0">
                <a:latin typeface="Calibri"/>
                <a:cs typeface="Calibri"/>
              </a:rPr>
              <a:t>Output: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Emotion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label</a:t>
            </a:r>
          </a:p>
          <a:p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874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6785-4C11-679D-0F16-D5C04647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016" y="313492"/>
            <a:ext cx="5168584" cy="677108"/>
          </a:xfrm>
        </p:spPr>
        <p:txBody>
          <a:bodyPr/>
          <a:lstStyle/>
          <a:p>
            <a:r>
              <a:rPr lang="en-IN" sz="4400" b="0" spc="-50" dirty="0">
                <a:latin typeface="Calibri Light"/>
                <a:cs typeface="Calibri Light"/>
              </a:rPr>
              <a:t>Implementation</a:t>
            </a:r>
            <a:r>
              <a:rPr lang="en-IN" sz="4400" b="0" spc="-95" dirty="0">
                <a:latin typeface="Calibri Light"/>
                <a:cs typeface="Calibri Light"/>
              </a:rPr>
              <a:t> </a:t>
            </a:r>
            <a:r>
              <a:rPr lang="en-IN" sz="4400" b="0" spc="-35" dirty="0">
                <a:latin typeface="Calibri Light"/>
                <a:cs typeface="Calibri Light"/>
              </a:rPr>
              <a:t>Details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D83E3-B468-730B-6EC9-BC929FF4B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11201400" cy="530401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IN" sz="2400" b="1" spc="-20" dirty="0">
                <a:latin typeface="Calibri"/>
                <a:cs typeface="Calibri"/>
              </a:rPr>
              <a:t>   Technologies</a:t>
            </a:r>
            <a:r>
              <a:rPr lang="en-IN" sz="2400" b="1" spc="-45" dirty="0">
                <a:latin typeface="Calibri"/>
                <a:cs typeface="Calibri"/>
              </a:rPr>
              <a:t> </a:t>
            </a:r>
            <a:r>
              <a:rPr lang="en-IN" sz="2400" b="1" dirty="0">
                <a:latin typeface="Calibri"/>
                <a:cs typeface="Calibri"/>
              </a:rPr>
              <a:t>Used</a:t>
            </a:r>
            <a:endParaRPr lang="en-IN" sz="2400" dirty="0">
              <a:latin typeface="Calibri"/>
              <a:cs typeface="Calibri"/>
            </a:endParaRPr>
          </a:p>
          <a:p>
            <a:pPr marL="698500" lvl="1" indent="-229235">
              <a:spcBef>
                <a:spcPts val="83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lang="en-IN" sz="2000" b="1" spc="-10" dirty="0">
                <a:latin typeface="Calibri"/>
                <a:cs typeface="Calibri"/>
              </a:rPr>
              <a:t>Programming</a:t>
            </a:r>
            <a:r>
              <a:rPr lang="en-IN" sz="2000" b="1" spc="-70" dirty="0">
                <a:latin typeface="Calibri"/>
                <a:cs typeface="Calibri"/>
              </a:rPr>
              <a:t> </a:t>
            </a:r>
            <a:r>
              <a:rPr lang="en-IN" sz="2000" b="1" dirty="0">
                <a:latin typeface="Calibri"/>
                <a:cs typeface="Calibri"/>
              </a:rPr>
              <a:t>Language</a:t>
            </a:r>
            <a:r>
              <a:rPr lang="en-IN" sz="2000" dirty="0">
                <a:latin typeface="Calibri"/>
                <a:cs typeface="Calibri"/>
              </a:rPr>
              <a:t>:</a:t>
            </a:r>
            <a:r>
              <a:rPr lang="en-IN" sz="2000" spc="-2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Python</a:t>
            </a:r>
          </a:p>
          <a:p>
            <a:pPr marL="698500" lvl="1" indent="-229235">
              <a:spcBef>
                <a:spcPts val="7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lang="en-IN" sz="2000" b="1" spc="-10" dirty="0">
                <a:latin typeface="Calibri"/>
                <a:cs typeface="Calibri"/>
              </a:rPr>
              <a:t>Libraries/Frameworks</a:t>
            </a:r>
            <a:r>
              <a:rPr lang="en-IN" sz="2000" spc="-10" dirty="0">
                <a:latin typeface="Calibri"/>
                <a:cs typeface="Calibri"/>
              </a:rPr>
              <a:t>:</a:t>
            </a:r>
            <a:endParaRPr lang="en-IN" sz="2000" dirty="0">
              <a:latin typeface="Calibri"/>
              <a:cs typeface="Calibri"/>
            </a:endParaRPr>
          </a:p>
          <a:p>
            <a:pPr marL="1270635" lvl="2" indent="-342900">
              <a:spcBef>
                <a:spcPts val="229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IN" sz="2000" b="1" dirty="0">
                <a:latin typeface="Calibri"/>
                <a:cs typeface="Calibri"/>
              </a:rPr>
              <a:t>OpenCV</a:t>
            </a:r>
            <a:r>
              <a:rPr lang="en-IN" sz="2000" dirty="0">
                <a:latin typeface="Calibri"/>
                <a:cs typeface="Calibri"/>
              </a:rPr>
              <a:t>:</a:t>
            </a:r>
            <a:r>
              <a:rPr lang="en-IN" sz="2000" spc="-2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For</a:t>
            </a:r>
            <a:r>
              <a:rPr lang="en-IN" sz="2000" spc="-3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image</a:t>
            </a:r>
            <a:r>
              <a:rPr lang="en-IN" sz="2000" spc="-4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processing</a:t>
            </a:r>
            <a:r>
              <a:rPr lang="en-IN" sz="2000" spc="20" dirty="0">
                <a:latin typeface="Calibri"/>
                <a:cs typeface="Calibri"/>
              </a:rPr>
              <a:t> </a:t>
            </a:r>
            <a:r>
              <a:rPr lang="en-IN" sz="2000" spc="-20" dirty="0">
                <a:latin typeface="Calibri"/>
                <a:cs typeface="Calibri"/>
              </a:rPr>
              <a:t>and </a:t>
            </a:r>
            <a:r>
              <a:rPr lang="en-IN" sz="2000" spc="-5" dirty="0">
                <a:latin typeface="Calibri"/>
                <a:cs typeface="Calibri"/>
              </a:rPr>
              <a:t>face</a:t>
            </a:r>
            <a:r>
              <a:rPr lang="en-IN" sz="2000" spc="35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detection.</a:t>
            </a:r>
            <a:endParaRPr lang="en-IN" sz="2000" dirty="0">
              <a:latin typeface="Calibri"/>
              <a:cs typeface="Calibri"/>
            </a:endParaRPr>
          </a:p>
          <a:p>
            <a:pPr marL="1270635" lvl="2" indent="-342900">
              <a:spcBef>
                <a:spcPts val="30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IN" sz="2000" b="1" spc="-20" dirty="0">
                <a:latin typeface="Calibri"/>
                <a:cs typeface="Calibri"/>
              </a:rPr>
              <a:t>TensorFlow/</a:t>
            </a:r>
            <a:r>
              <a:rPr lang="en-IN" sz="2000" b="1" spc="-20" dirty="0" err="1">
                <a:latin typeface="Calibri"/>
                <a:cs typeface="Calibri"/>
              </a:rPr>
              <a:t>Keras</a:t>
            </a:r>
            <a:r>
              <a:rPr lang="en-IN" sz="2000" spc="-20" dirty="0">
                <a:latin typeface="Calibri"/>
                <a:cs typeface="Calibri"/>
              </a:rPr>
              <a:t>:</a:t>
            </a:r>
            <a:r>
              <a:rPr lang="en-IN" sz="2000" spc="-10" dirty="0">
                <a:latin typeface="Calibri"/>
                <a:cs typeface="Calibri"/>
              </a:rPr>
              <a:t> For</a:t>
            </a:r>
            <a:r>
              <a:rPr lang="en-IN" sz="2000" spc="-25" dirty="0">
                <a:latin typeface="Calibri"/>
                <a:cs typeface="Calibri"/>
              </a:rPr>
              <a:t> </a:t>
            </a:r>
            <a:r>
              <a:rPr lang="en-IN" sz="2000" spc="5" dirty="0">
                <a:latin typeface="Calibri"/>
                <a:cs typeface="Calibri"/>
              </a:rPr>
              <a:t>building</a:t>
            </a:r>
            <a:r>
              <a:rPr lang="en-IN" sz="2000" spc="-50" dirty="0">
                <a:latin typeface="Calibri"/>
                <a:cs typeface="Calibri"/>
              </a:rPr>
              <a:t> </a:t>
            </a:r>
            <a:r>
              <a:rPr lang="en-IN" sz="2000" spc="5" dirty="0">
                <a:latin typeface="Calibri"/>
                <a:cs typeface="Calibri"/>
              </a:rPr>
              <a:t>and</a:t>
            </a:r>
            <a:r>
              <a:rPr lang="en-IN" sz="2000" spc="-5" dirty="0">
                <a:latin typeface="Calibri"/>
                <a:cs typeface="Calibri"/>
              </a:rPr>
              <a:t> training</a:t>
            </a:r>
            <a:r>
              <a:rPr lang="en-IN" sz="2000" spc="25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neural</a:t>
            </a:r>
            <a:r>
              <a:rPr lang="en-IN" sz="200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networks</a:t>
            </a:r>
            <a:r>
              <a:rPr lang="en-IN" sz="2000" spc="35" dirty="0">
                <a:latin typeface="Calibri"/>
                <a:cs typeface="Calibri"/>
              </a:rPr>
              <a:t> </a:t>
            </a:r>
            <a:r>
              <a:rPr lang="en-IN" sz="2000" spc="-30" dirty="0">
                <a:latin typeface="Calibri"/>
                <a:cs typeface="Calibri"/>
              </a:rPr>
              <a:t>for</a:t>
            </a:r>
            <a:r>
              <a:rPr lang="en-IN" sz="2000" spc="5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emotion </a:t>
            </a:r>
            <a:r>
              <a:rPr lang="en-IN" sz="2000" spc="-5" dirty="0">
                <a:latin typeface="Calibri"/>
                <a:cs typeface="Calibri"/>
              </a:rPr>
              <a:t>detection.</a:t>
            </a:r>
            <a:endParaRPr lang="en-IN" sz="2000" dirty="0">
              <a:latin typeface="Calibri"/>
              <a:cs typeface="Calibri"/>
            </a:endParaRPr>
          </a:p>
          <a:p>
            <a:pPr marL="1270635" lvl="2" indent="-342900">
              <a:spcBef>
                <a:spcPts val="22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IN" sz="2000" b="1" spc="-25" dirty="0">
                <a:latin typeface="Calibri"/>
                <a:cs typeface="Calibri"/>
              </a:rPr>
              <a:t>NLTK/VADER</a:t>
            </a:r>
            <a:r>
              <a:rPr lang="en-IN" sz="2000" spc="-25" dirty="0">
                <a:latin typeface="Calibri"/>
                <a:cs typeface="Calibri"/>
              </a:rPr>
              <a:t>: </a:t>
            </a:r>
            <a:r>
              <a:rPr lang="en-IN" sz="2000" spc="-10" dirty="0">
                <a:latin typeface="Calibri"/>
                <a:cs typeface="Calibri"/>
              </a:rPr>
              <a:t>For</a:t>
            </a:r>
            <a:r>
              <a:rPr lang="en-IN" sz="2000" spc="-35" dirty="0">
                <a:latin typeface="Calibri"/>
                <a:cs typeface="Calibri"/>
              </a:rPr>
              <a:t> </a:t>
            </a:r>
            <a:r>
              <a:rPr lang="en-IN" sz="2000" spc="5" dirty="0">
                <a:latin typeface="Calibri"/>
                <a:cs typeface="Calibri"/>
              </a:rPr>
              <a:t>text</a:t>
            </a:r>
            <a:r>
              <a:rPr lang="en-IN" sz="2000" spc="-1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preprocessing</a:t>
            </a:r>
            <a:r>
              <a:rPr lang="en-IN" sz="2000" spc="-65" dirty="0">
                <a:latin typeface="Calibri"/>
                <a:cs typeface="Calibri"/>
              </a:rPr>
              <a:t> </a:t>
            </a:r>
            <a:r>
              <a:rPr lang="en-IN" sz="2000" spc="5" dirty="0">
                <a:latin typeface="Calibri"/>
                <a:cs typeface="Calibri"/>
              </a:rPr>
              <a:t>and</a:t>
            </a:r>
            <a:r>
              <a:rPr lang="en-IN" sz="2000" spc="-2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sentiment</a:t>
            </a:r>
            <a:r>
              <a:rPr lang="en-IN" sz="2000" spc="-1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analysis.</a:t>
            </a:r>
          </a:p>
          <a:p>
            <a:pPr marL="356235" indent="-342900">
              <a:spcBef>
                <a:spcPts val="22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endParaRPr lang="en-IN" sz="2000" dirty="0">
              <a:latin typeface="Calibri"/>
              <a:cs typeface="Calibri"/>
            </a:endParaRPr>
          </a:p>
          <a:p>
            <a:pPr marL="13335">
              <a:spcBef>
                <a:spcPts val="225"/>
              </a:spcBef>
              <a:tabLst>
                <a:tab pos="698500" algn="l"/>
                <a:tab pos="699135" algn="l"/>
              </a:tabLst>
            </a:pPr>
            <a:r>
              <a:rPr lang="en-IN" sz="2400" b="1" dirty="0">
                <a:latin typeface="Calibri"/>
                <a:cs typeface="Calibri"/>
              </a:rPr>
              <a:t>   Methodology</a:t>
            </a:r>
          </a:p>
          <a:p>
            <a:pPr marL="698500" lvl="1" indent="-229235">
              <a:spcBef>
                <a:spcPts val="83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lang="en-IN" sz="2000" b="1" spc="-5" dirty="0">
                <a:latin typeface="Calibri"/>
                <a:cs typeface="Calibri"/>
              </a:rPr>
              <a:t>Data</a:t>
            </a:r>
            <a:r>
              <a:rPr lang="en-IN" sz="2000" b="1" spc="-50" dirty="0">
                <a:latin typeface="Calibri"/>
                <a:cs typeface="Calibri"/>
              </a:rPr>
              <a:t> </a:t>
            </a:r>
            <a:r>
              <a:rPr lang="en-IN" sz="2000" b="1" spc="-5" dirty="0">
                <a:latin typeface="Calibri"/>
                <a:cs typeface="Calibri"/>
              </a:rPr>
              <a:t>Collection</a:t>
            </a:r>
            <a:r>
              <a:rPr lang="en-IN" sz="2000" spc="-5" dirty="0">
                <a:latin typeface="Calibri"/>
                <a:cs typeface="Calibri"/>
              </a:rPr>
              <a:t>:</a:t>
            </a:r>
            <a:endParaRPr lang="en-IN" sz="2000" dirty="0">
              <a:latin typeface="Calibri"/>
              <a:cs typeface="Calibri"/>
            </a:endParaRPr>
          </a:p>
          <a:p>
            <a:pPr marL="1270635" lvl="2" indent="-342900">
              <a:spcBef>
                <a:spcPts val="300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IN" sz="2000" b="1" spc="-20" dirty="0">
                <a:latin typeface="Calibri"/>
                <a:cs typeface="Calibri"/>
              </a:rPr>
              <a:t>Facial</a:t>
            </a:r>
            <a:r>
              <a:rPr lang="en-IN" sz="2000" b="1" spc="30" dirty="0">
                <a:latin typeface="Calibri"/>
                <a:cs typeface="Calibri"/>
              </a:rPr>
              <a:t> </a:t>
            </a:r>
            <a:r>
              <a:rPr lang="en-IN" sz="2000" b="1" spc="-5" dirty="0">
                <a:latin typeface="Calibri"/>
                <a:cs typeface="Calibri"/>
              </a:rPr>
              <a:t>Emotion</a:t>
            </a:r>
            <a:r>
              <a:rPr lang="en-IN" sz="2000" b="1" spc="-30" dirty="0">
                <a:latin typeface="Calibri"/>
                <a:cs typeface="Calibri"/>
              </a:rPr>
              <a:t> </a:t>
            </a:r>
            <a:r>
              <a:rPr lang="en-IN" sz="2000" b="1" spc="-5" dirty="0">
                <a:latin typeface="Calibri"/>
                <a:cs typeface="Calibri"/>
              </a:rPr>
              <a:t>Data</a:t>
            </a:r>
            <a:r>
              <a:rPr lang="en-IN" sz="2000" spc="-5" dirty="0">
                <a:latin typeface="Calibri"/>
                <a:cs typeface="Calibri"/>
              </a:rPr>
              <a:t>:</a:t>
            </a:r>
            <a:r>
              <a:rPr lang="en-IN" sz="2000" spc="-1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Collected</a:t>
            </a:r>
            <a:r>
              <a:rPr lang="en-IN" sz="2000" spc="-10" dirty="0">
                <a:latin typeface="Calibri"/>
                <a:cs typeface="Calibri"/>
              </a:rPr>
              <a:t> from</a:t>
            </a:r>
            <a:r>
              <a:rPr lang="en-IN" sz="2000" spc="35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datasets</a:t>
            </a:r>
            <a:r>
              <a:rPr lang="en-IN" sz="2000" spc="-4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like</a:t>
            </a:r>
            <a:r>
              <a:rPr lang="en-IN" sz="2000" spc="-3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FER2013</a:t>
            </a:r>
            <a:r>
              <a:rPr lang="en-IN" sz="2000" spc="2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or</a:t>
            </a:r>
            <a:r>
              <a:rPr lang="en-IN" sz="2000" spc="-2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CK+</a:t>
            </a:r>
            <a:r>
              <a:rPr lang="en-IN" sz="2000" spc="4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containing</a:t>
            </a:r>
            <a:r>
              <a:rPr lang="en-IN" sz="2000" spc="50" dirty="0">
                <a:latin typeface="Calibri"/>
                <a:cs typeface="Calibri"/>
              </a:rPr>
              <a:t> </a:t>
            </a:r>
            <a:r>
              <a:rPr lang="en-IN" sz="2000" dirty="0" err="1">
                <a:latin typeface="Calibri"/>
                <a:cs typeface="Calibri"/>
              </a:rPr>
              <a:t>labeled</a:t>
            </a:r>
            <a:r>
              <a:rPr lang="en-IN" sz="2000" spc="-15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facial </a:t>
            </a:r>
            <a:r>
              <a:rPr lang="en-IN" sz="2000" spc="-10" dirty="0">
                <a:latin typeface="Calibri"/>
                <a:cs typeface="Calibri"/>
              </a:rPr>
              <a:t>images.</a:t>
            </a:r>
            <a:endParaRPr lang="en-IN" sz="2000" dirty="0">
              <a:latin typeface="Calibri"/>
              <a:cs typeface="Calibri"/>
            </a:endParaRPr>
          </a:p>
          <a:p>
            <a:pPr marL="1270635" marR="546735" lvl="2" indent="-342900">
              <a:lnSpc>
                <a:spcPts val="2180"/>
              </a:lnSpc>
              <a:spcBef>
                <a:spcPts val="484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IN" sz="2000" b="1" spc="-55" dirty="0">
                <a:latin typeface="Calibri"/>
                <a:cs typeface="Calibri"/>
              </a:rPr>
              <a:t>Text</a:t>
            </a:r>
            <a:r>
              <a:rPr lang="en-IN" sz="2000" b="1" spc="-25" dirty="0">
                <a:latin typeface="Calibri"/>
                <a:cs typeface="Calibri"/>
              </a:rPr>
              <a:t> </a:t>
            </a:r>
            <a:r>
              <a:rPr lang="en-IN" sz="2000" b="1" dirty="0">
                <a:latin typeface="Calibri"/>
                <a:cs typeface="Calibri"/>
              </a:rPr>
              <a:t>Sentiment</a:t>
            </a:r>
            <a:r>
              <a:rPr lang="en-IN" sz="2000" b="1" spc="-20" dirty="0">
                <a:latin typeface="Calibri"/>
                <a:cs typeface="Calibri"/>
              </a:rPr>
              <a:t> </a:t>
            </a:r>
            <a:r>
              <a:rPr lang="en-IN" sz="2000" b="1" spc="-10" dirty="0">
                <a:latin typeface="Calibri"/>
                <a:cs typeface="Calibri"/>
              </a:rPr>
              <a:t>Data</a:t>
            </a:r>
            <a:r>
              <a:rPr lang="en-IN" sz="2000" spc="-10" dirty="0">
                <a:latin typeface="Calibri"/>
                <a:cs typeface="Calibri"/>
              </a:rPr>
              <a:t>:</a:t>
            </a:r>
            <a:r>
              <a:rPr lang="en-IN" sz="2000" spc="-5" dirty="0">
                <a:latin typeface="Calibri"/>
                <a:cs typeface="Calibri"/>
              </a:rPr>
              <a:t> Gathered</a:t>
            </a:r>
            <a:r>
              <a:rPr lang="en-IN" sz="200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from</a:t>
            </a:r>
            <a:r>
              <a:rPr lang="en-IN" sz="2000" spc="45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sentiment-</a:t>
            </a:r>
            <a:r>
              <a:rPr lang="en-IN" sz="2000" spc="-5" dirty="0" err="1">
                <a:latin typeface="Calibri"/>
                <a:cs typeface="Calibri"/>
              </a:rPr>
              <a:t>labeled</a:t>
            </a:r>
            <a:r>
              <a:rPr lang="en-IN" sz="2000" spc="-2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datasets</a:t>
            </a:r>
            <a:r>
              <a:rPr lang="en-IN" sz="2000" spc="-45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like</a:t>
            </a:r>
            <a:r>
              <a:rPr lang="en-IN" sz="2000" spc="-3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IMDB</a:t>
            </a:r>
            <a:r>
              <a:rPr lang="en-IN" sz="2000" spc="20" dirty="0">
                <a:latin typeface="Calibri"/>
                <a:cs typeface="Calibri"/>
              </a:rPr>
              <a:t> </a:t>
            </a:r>
            <a:r>
              <a:rPr lang="en-IN" sz="2000" spc="-15" dirty="0">
                <a:latin typeface="Calibri"/>
                <a:cs typeface="Calibri"/>
              </a:rPr>
              <a:t>reviews</a:t>
            </a:r>
            <a:r>
              <a:rPr lang="en-IN" sz="2000" spc="-3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or</a:t>
            </a:r>
            <a:r>
              <a:rPr lang="en-IN" sz="2000" spc="45" dirty="0">
                <a:latin typeface="Calibri"/>
                <a:cs typeface="Calibri"/>
              </a:rPr>
              <a:t> </a:t>
            </a:r>
            <a:r>
              <a:rPr lang="en-IN" sz="2000" spc="-25" dirty="0">
                <a:latin typeface="Calibri"/>
                <a:cs typeface="Calibri"/>
              </a:rPr>
              <a:t>Twitter </a:t>
            </a:r>
            <a:r>
              <a:rPr lang="en-IN" sz="2000" spc="-440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Sentiment</a:t>
            </a:r>
            <a:r>
              <a:rPr lang="en-IN" sz="2000" spc="-15" dirty="0">
                <a:latin typeface="Calibri"/>
                <a:cs typeface="Calibri"/>
              </a:rPr>
              <a:t> </a:t>
            </a:r>
            <a:r>
              <a:rPr lang="en-IN" sz="2000" spc="-5" dirty="0">
                <a:latin typeface="Calibri"/>
                <a:cs typeface="Calibri"/>
              </a:rPr>
              <a:t>Analysis</a:t>
            </a:r>
            <a:r>
              <a:rPr lang="en-IN" sz="2000" spc="-4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Dataset</a:t>
            </a:r>
            <a:r>
              <a:rPr lang="en-IN" sz="1900" dirty="0">
                <a:latin typeface="Calibri"/>
                <a:cs typeface="Calibri"/>
              </a:rPr>
              <a:t>.</a:t>
            </a:r>
            <a:endParaRPr lang="en-IN" sz="2000" dirty="0">
              <a:latin typeface="Calibri"/>
              <a:cs typeface="Calibri"/>
            </a:endParaRPr>
          </a:p>
          <a:p>
            <a:pPr marL="927735" marR="546735" lvl="2">
              <a:lnSpc>
                <a:spcPts val="2180"/>
              </a:lnSpc>
              <a:spcBef>
                <a:spcPts val="484"/>
              </a:spcBef>
              <a:tabLst>
                <a:tab pos="698500" algn="l"/>
                <a:tab pos="699135" algn="l"/>
              </a:tabLst>
            </a:pPr>
            <a:endParaRPr lang="en-IN" sz="2000" dirty="0">
              <a:latin typeface="Calibri"/>
              <a:cs typeface="Calibri"/>
            </a:endParaRPr>
          </a:p>
          <a:p>
            <a:pPr marL="13335">
              <a:spcBef>
                <a:spcPts val="225"/>
              </a:spcBef>
              <a:tabLst>
                <a:tab pos="698500" algn="l"/>
                <a:tab pos="699135" algn="l"/>
              </a:tabLst>
            </a:pPr>
            <a:endParaRPr lang="en-IN" sz="20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602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153775" y="6441747"/>
            <a:ext cx="15367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dirty="0">
                <a:latin typeface="Calibri"/>
                <a:cs typeface="Calibri"/>
              </a:rPr>
              <a:t>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838200"/>
            <a:ext cx="11430000" cy="560986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812165" lvl="1" indent="-342900"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241300" algn="l"/>
                <a:tab pos="241935" algn="l"/>
              </a:tabLst>
            </a:pPr>
            <a:r>
              <a:rPr lang="en-US" sz="1900" b="1" spc="-5" dirty="0">
                <a:latin typeface="Calibri"/>
                <a:cs typeface="Calibri"/>
              </a:rPr>
              <a:t>Preprocessing</a:t>
            </a:r>
            <a:r>
              <a:rPr lang="en-US" sz="1900" spc="-5" dirty="0">
                <a:latin typeface="Calibri"/>
                <a:cs typeface="Calibri"/>
              </a:rPr>
              <a:t>:</a:t>
            </a:r>
            <a:endParaRPr lang="en-US" sz="1900" dirty="0">
              <a:latin typeface="Calibri"/>
              <a:cs typeface="Calibri"/>
            </a:endParaRPr>
          </a:p>
          <a:p>
            <a:pPr marL="1270635" lvl="2" indent="-342900">
              <a:spcBef>
                <a:spcPts val="300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-10" dirty="0">
                <a:latin typeface="Calibri"/>
                <a:cs typeface="Calibri"/>
              </a:rPr>
              <a:t>Face</a:t>
            </a:r>
            <a:r>
              <a:rPr lang="en-US" sz="1900" b="1" spc="-45" dirty="0">
                <a:latin typeface="Calibri"/>
                <a:cs typeface="Calibri"/>
              </a:rPr>
              <a:t> </a:t>
            </a:r>
            <a:r>
              <a:rPr lang="en-US" sz="1900" b="1" spc="-5" dirty="0">
                <a:latin typeface="Calibri"/>
                <a:cs typeface="Calibri"/>
              </a:rPr>
              <a:t>Detection</a:t>
            </a:r>
            <a:r>
              <a:rPr lang="en-US" sz="1900" spc="-5" dirty="0">
                <a:latin typeface="Calibri"/>
                <a:cs typeface="Calibri"/>
              </a:rPr>
              <a:t>: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Used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OpenCV</a:t>
            </a:r>
            <a:r>
              <a:rPr lang="en-US" sz="1900" spc="55" dirty="0">
                <a:latin typeface="Calibri"/>
                <a:cs typeface="Calibri"/>
              </a:rPr>
              <a:t> </a:t>
            </a:r>
            <a:r>
              <a:rPr lang="en-US" sz="1900" spc="-30" dirty="0">
                <a:latin typeface="Calibri"/>
                <a:cs typeface="Calibri"/>
              </a:rPr>
              <a:t>to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detect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faces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and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extract </a:t>
            </a:r>
            <a:r>
              <a:rPr lang="en-US" sz="1900" spc="-10" dirty="0">
                <a:latin typeface="Calibri"/>
                <a:cs typeface="Calibri"/>
              </a:rPr>
              <a:t>relevant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regions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from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images.</a:t>
            </a:r>
            <a:endParaRPr lang="en-US" sz="1900" dirty="0">
              <a:latin typeface="Calibri"/>
              <a:cs typeface="Calibri"/>
            </a:endParaRPr>
          </a:p>
          <a:p>
            <a:pPr marL="1270635" lvl="2" indent="-342900">
              <a:spcBef>
                <a:spcPts val="229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-55" dirty="0">
                <a:latin typeface="Calibri"/>
                <a:cs typeface="Calibri"/>
              </a:rPr>
              <a:t>Text</a:t>
            </a:r>
            <a:r>
              <a:rPr lang="en-US" sz="1900" b="1" spc="-20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Cleaning</a:t>
            </a:r>
            <a:r>
              <a:rPr lang="en-US" sz="1900" dirty="0">
                <a:latin typeface="Calibri"/>
                <a:cs typeface="Calibri"/>
              </a:rPr>
              <a:t>:</a:t>
            </a:r>
            <a:r>
              <a:rPr lang="en-US" sz="1900" spc="-10" dirty="0">
                <a:latin typeface="Calibri"/>
                <a:cs typeface="Calibri"/>
              </a:rPr>
              <a:t> Removed </a:t>
            </a:r>
            <a:r>
              <a:rPr lang="en-US" sz="1900" dirty="0">
                <a:latin typeface="Calibri"/>
                <a:cs typeface="Calibri"/>
              </a:rPr>
              <a:t>noise,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stop </a:t>
            </a:r>
            <a:r>
              <a:rPr lang="en-US" sz="1900" dirty="0">
                <a:latin typeface="Calibri"/>
                <a:cs typeface="Calibri"/>
              </a:rPr>
              <a:t>words,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and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-15" dirty="0">
                <a:latin typeface="Calibri"/>
                <a:cs typeface="Calibri"/>
              </a:rPr>
              <a:t>tokenized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the</a:t>
            </a:r>
            <a:r>
              <a:rPr lang="en-US" sz="1900" spc="-30" dirty="0">
                <a:latin typeface="Calibri"/>
                <a:cs typeface="Calibri"/>
              </a:rPr>
              <a:t> </a:t>
            </a:r>
            <a:r>
              <a:rPr lang="en-US" sz="1900" spc="-15" dirty="0">
                <a:latin typeface="Calibri"/>
                <a:cs typeface="Calibri"/>
              </a:rPr>
              <a:t>text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for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sentiment </a:t>
            </a:r>
            <a:r>
              <a:rPr lang="en-US" sz="1900" spc="-10" dirty="0">
                <a:latin typeface="Calibri"/>
                <a:cs typeface="Calibri"/>
              </a:rPr>
              <a:t>analysis.</a:t>
            </a:r>
          </a:p>
          <a:p>
            <a:pPr marL="1270635" lvl="2" indent="-342900">
              <a:spcBef>
                <a:spcPts val="229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endParaRPr lang="en-IN" sz="1900" b="1" spc="10" dirty="0">
              <a:latin typeface="Calibri"/>
              <a:cs typeface="Calibri"/>
            </a:endParaRPr>
          </a:p>
          <a:p>
            <a:pPr marL="755015" lvl="1" indent="-285750">
              <a:spcBef>
                <a:spcPts val="484"/>
              </a:spcBef>
              <a:buFont typeface="Arial" panose="020B0604020202020204" pitchFamily="34" charset="0"/>
              <a:buChar char="•"/>
              <a:tabLst>
                <a:tab pos="298450" algn="l"/>
                <a:tab pos="299085" algn="l"/>
              </a:tabLst>
            </a:pPr>
            <a:r>
              <a:rPr lang="en-IN" sz="1900" b="1" spc="10" dirty="0">
                <a:latin typeface="Calibri"/>
                <a:cs typeface="Calibri"/>
              </a:rPr>
              <a:t>Feature Extraction</a:t>
            </a:r>
            <a:endParaRPr lang="en-IN" sz="1900" b="1" spc="15" dirty="0">
              <a:latin typeface="Calibri"/>
              <a:cs typeface="Calibri"/>
            </a:endParaRPr>
          </a:p>
          <a:p>
            <a:pPr marL="1212850" lvl="2" indent="-286385">
              <a:spcBef>
                <a:spcPts val="484"/>
              </a:spcBef>
              <a:buFont typeface="Courier New" panose="02070309020205020404" pitchFamily="49" charset="0"/>
              <a:buChar char="o"/>
              <a:tabLst>
                <a:tab pos="298450" algn="l"/>
                <a:tab pos="299085" algn="l"/>
              </a:tabLst>
            </a:pPr>
            <a:r>
              <a:rPr sz="1900" b="1" spc="15" dirty="0">
                <a:latin typeface="Calibri"/>
                <a:cs typeface="Calibri"/>
              </a:rPr>
              <a:t>Facial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spc="15" dirty="0">
                <a:latin typeface="Calibri"/>
                <a:cs typeface="Calibri"/>
              </a:rPr>
              <a:t>Features</a:t>
            </a:r>
            <a:r>
              <a:rPr sz="1900" spc="15" dirty="0">
                <a:latin typeface="Calibri"/>
                <a:cs typeface="Calibri"/>
              </a:rPr>
              <a:t>: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Extracted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using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Dlib’s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facial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landmarks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for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more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detailed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emotion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detection</a:t>
            </a:r>
            <a:endParaRPr sz="1900" dirty="0">
              <a:latin typeface="Calibri"/>
              <a:cs typeface="Calibri"/>
            </a:endParaRPr>
          </a:p>
          <a:p>
            <a:pPr marL="1212850" lvl="2" indent="-286385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298450" algn="l"/>
                <a:tab pos="299085" algn="l"/>
              </a:tabLst>
            </a:pPr>
            <a:r>
              <a:rPr sz="1900" b="1" spc="15" dirty="0">
                <a:latin typeface="Calibri"/>
                <a:cs typeface="Calibri"/>
              </a:rPr>
              <a:t>Text</a:t>
            </a:r>
            <a:r>
              <a:rPr sz="1900" b="1" dirty="0">
                <a:latin typeface="Calibri"/>
                <a:cs typeface="Calibri"/>
              </a:rPr>
              <a:t> </a:t>
            </a:r>
            <a:r>
              <a:rPr sz="1900" b="1" spc="20" dirty="0">
                <a:latin typeface="Calibri"/>
                <a:cs typeface="Calibri"/>
              </a:rPr>
              <a:t>Features</a:t>
            </a:r>
            <a:r>
              <a:rPr sz="1900" spc="20" dirty="0">
                <a:latin typeface="Calibri"/>
                <a:cs typeface="Calibri"/>
              </a:rPr>
              <a:t>:</a:t>
            </a:r>
            <a:r>
              <a:rPr sz="1900" spc="5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Used</a:t>
            </a:r>
            <a:r>
              <a:rPr sz="1900" spc="25" dirty="0">
                <a:latin typeface="Calibri"/>
                <a:cs typeface="Calibri"/>
              </a:rPr>
              <a:t> TF-IDF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40" dirty="0">
                <a:latin typeface="Calibri"/>
                <a:cs typeface="Calibri"/>
              </a:rPr>
              <a:t>or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word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embeddings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convert </a:t>
            </a:r>
            <a:r>
              <a:rPr sz="1900" spc="15" dirty="0">
                <a:latin typeface="Calibri"/>
                <a:cs typeface="Calibri"/>
              </a:rPr>
              <a:t>text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into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numerical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vectors</a:t>
            </a:r>
            <a:r>
              <a:rPr lang="en-IN" sz="1900" spc="20" dirty="0">
                <a:latin typeface="Calibri"/>
                <a:cs typeface="Calibri"/>
              </a:rPr>
              <a:t>.</a:t>
            </a:r>
          </a:p>
          <a:p>
            <a:pPr marL="1212850" lvl="2" indent="-286385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298450" algn="l"/>
                <a:tab pos="299085" algn="l"/>
              </a:tabLst>
            </a:pPr>
            <a:endParaRPr lang="en-IN" sz="1900" dirty="0">
              <a:latin typeface="Calibri"/>
              <a:cs typeface="Calibri"/>
            </a:endParaRPr>
          </a:p>
          <a:p>
            <a:pPr marL="698500" lvl="1" indent="-228600"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b="1" spc="20" dirty="0">
                <a:latin typeface="Calibri"/>
                <a:cs typeface="Calibri"/>
              </a:rPr>
              <a:t>Model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Training</a:t>
            </a:r>
            <a:r>
              <a:rPr sz="1900" spc="5" dirty="0">
                <a:latin typeface="Calibri"/>
                <a:cs typeface="Calibri"/>
              </a:rPr>
              <a:t>:</a:t>
            </a:r>
            <a:endParaRPr sz="1900" dirty="0">
              <a:latin typeface="Calibri"/>
              <a:cs typeface="Calibri"/>
            </a:endParaRPr>
          </a:p>
          <a:p>
            <a:pPr marL="1212850" lvl="2" indent="-28575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sz="1900" b="1" spc="15" dirty="0">
                <a:latin typeface="Calibri"/>
                <a:cs typeface="Calibri"/>
              </a:rPr>
              <a:t>Emotion</a:t>
            </a:r>
            <a:r>
              <a:rPr sz="1900" b="1" spc="80" dirty="0">
                <a:latin typeface="Calibri"/>
                <a:cs typeface="Calibri"/>
              </a:rPr>
              <a:t> </a:t>
            </a:r>
            <a:r>
              <a:rPr sz="1900" b="1" spc="10" dirty="0">
                <a:latin typeface="Calibri"/>
                <a:cs typeface="Calibri"/>
              </a:rPr>
              <a:t>Detection</a:t>
            </a:r>
            <a:r>
              <a:rPr sz="1900" spc="10" dirty="0">
                <a:latin typeface="Calibri"/>
                <a:cs typeface="Calibri"/>
              </a:rPr>
              <a:t>:</a:t>
            </a:r>
            <a:r>
              <a:rPr sz="1900" spc="5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Trained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Convolutional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Neural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Network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(CNN)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45" dirty="0">
                <a:latin typeface="Calibri"/>
                <a:cs typeface="Calibri"/>
              </a:rPr>
              <a:t>on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the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facial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data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to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classify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emotions.</a:t>
            </a:r>
            <a:endParaRPr sz="1900" dirty="0">
              <a:latin typeface="Calibri"/>
              <a:cs typeface="Calibri"/>
            </a:endParaRPr>
          </a:p>
          <a:p>
            <a:pPr marL="1212850" lvl="2" indent="-28575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sz="1900" b="1" spc="15" dirty="0">
                <a:latin typeface="Calibri"/>
                <a:cs typeface="Calibri"/>
              </a:rPr>
              <a:t>Sentiment</a:t>
            </a:r>
            <a:r>
              <a:rPr sz="1900" b="1" spc="10" dirty="0">
                <a:latin typeface="Calibri"/>
                <a:cs typeface="Calibri"/>
              </a:rPr>
              <a:t> </a:t>
            </a:r>
            <a:r>
              <a:rPr sz="1900" b="1" spc="15" dirty="0">
                <a:latin typeface="Calibri"/>
                <a:cs typeface="Calibri"/>
              </a:rPr>
              <a:t>Analysis</a:t>
            </a:r>
            <a:r>
              <a:rPr sz="1900" spc="15" dirty="0">
                <a:latin typeface="Calibri"/>
                <a:cs typeface="Calibri"/>
              </a:rPr>
              <a:t>:</a:t>
            </a:r>
            <a:r>
              <a:rPr sz="1900" spc="60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Used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a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Recurrent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Neural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30" dirty="0">
                <a:latin typeface="Calibri"/>
                <a:cs typeface="Calibri"/>
              </a:rPr>
              <a:t>Network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(RNN)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40" dirty="0">
                <a:latin typeface="Calibri"/>
                <a:cs typeface="Calibri"/>
              </a:rPr>
              <a:t>or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pre-trained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models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like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BERT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for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sentiment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classification</a:t>
            </a:r>
            <a:r>
              <a:rPr lang="en-IN" sz="1900" spc="15" dirty="0">
                <a:latin typeface="Calibri"/>
                <a:cs typeface="Calibri"/>
              </a:rPr>
              <a:t>.</a:t>
            </a:r>
          </a:p>
          <a:p>
            <a:pPr marL="1212850" lvl="2" indent="-28575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endParaRPr lang="en-IN" sz="1900" dirty="0">
              <a:latin typeface="Calibri"/>
              <a:cs typeface="Calibri"/>
            </a:endParaRPr>
          </a:p>
          <a:p>
            <a:pPr marL="812800" lvl="1" indent="-342900"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698500" algn="l"/>
                <a:tab pos="699135" algn="l"/>
              </a:tabLst>
            </a:pPr>
            <a:r>
              <a:rPr sz="1900" b="1" spc="-5" dirty="0">
                <a:latin typeface="Calibri"/>
                <a:cs typeface="Calibri"/>
              </a:rPr>
              <a:t>Testing</a:t>
            </a:r>
            <a:r>
              <a:rPr sz="1900" b="1" spc="15" dirty="0">
                <a:latin typeface="Calibri"/>
                <a:cs typeface="Calibri"/>
              </a:rPr>
              <a:t> </a:t>
            </a:r>
            <a:r>
              <a:rPr sz="1900" b="1" spc="20" dirty="0">
                <a:latin typeface="Calibri"/>
                <a:cs typeface="Calibri"/>
              </a:rPr>
              <a:t>and</a:t>
            </a:r>
            <a:r>
              <a:rPr sz="1900" b="1" spc="-5" dirty="0">
                <a:latin typeface="Calibri"/>
                <a:cs typeface="Calibri"/>
              </a:rPr>
              <a:t> </a:t>
            </a:r>
            <a:r>
              <a:rPr sz="1900" b="1" spc="5" dirty="0">
                <a:latin typeface="Calibri"/>
                <a:cs typeface="Calibri"/>
              </a:rPr>
              <a:t>Evaluation</a:t>
            </a:r>
            <a:r>
              <a:rPr sz="1900" spc="5" dirty="0">
                <a:latin typeface="Calibri"/>
                <a:cs typeface="Calibri"/>
              </a:rPr>
              <a:t>:</a:t>
            </a:r>
            <a:endParaRPr sz="1900" dirty="0">
              <a:latin typeface="Calibri"/>
              <a:cs typeface="Calibri"/>
            </a:endParaRPr>
          </a:p>
          <a:p>
            <a:pPr marL="1212850" lvl="2" indent="-28575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sz="1900" spc="5" dirty="0">
                <a:latin typeface="Calibri"/>
                <a:cs typeface="Calibri"/>
              </a:rPr>
              <a:t>Evaluated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25" dirty="0">
                <a:latin typeface="Calibri"/>
                <a:cs typeface="Calibri"/>
              </a:rPr>
              <a:t>both </a:t>
            </a:r>
            <a:r>
              <a:rPr sz="1900" spc="15" dirty="0">
                <a:latin typeface="Calibri"/>
                <a:cs typeface="Calibri"/>
              </a:rPr>
              <a:t>models </a:t>
            </a:r>
            <a:r>
              <a:rPr sz="1900" spc="5" dirty="0">
                <a:latin typeface="Calibri"/>
                <a:cs typeface="Calibri"/>
              </a:rPr>
              <a:t>on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test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data</a:t>
            </a:r>
            <a:r>
              <a:rPr sz="1900" spc="20" dirty="0">
                <a:latin typeface="Calibri"/>
                <a:cs typeface="Calibri"/>
              </a:rPr>
              <a:t> 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metrics</a:t>
            </a:r>
            <a:r>
              <a:rPr sz="1900" spc="9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like</a:t>
            </a:r>
            <a:r>
              <a:rPr sz="1900" spc="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accuracy,</a:t>
            </a:r>
            <a:r>
              <a:rPr sz="1900" spc="9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precision, </a:t>
            </a:r>
            <a:r>
              <a:rPr sz="1900" spc="10" dirty="0">
                <a:latin typeface="Calibri"/>
                <a:cs typeface="Calibri"/>
              </a:rPr>
              <a:t>recall,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and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35" dirty="0">
                <a:latin typeface="Calibri"/>
                <a:cs typeface="Calibri"/>
              </a:rPr>
              <a:t>F1-score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10" dirty="0">
                <a:latin typeface="Calibri"/>
                <a:cs typeface="Calibri"/>
              </a:rPr>
              <a:t>to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20" dirty="0">
                <a:latin typeface="Calibri"/>
                <a:cs typeface="Calibri"/>
              </a:rPr>
              <a:t>ensure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reliability.</a:t>
            </a:r>
            <a:endParaRPr lang="en-IN"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DCA9-E80E-DFB5-1286-B2419CC6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0600"/>
            <a:ext cx="10356850" cy="5486400"/>
          </a:xfrm>
        </p:spPr>
        <p:txBody>
          <a:bodyPr/>
          <a:lstStyle/>
          <a:p>
            <a:pPr marL="12700">
              <a:spcBef>
                <a:spcPts val="1030"/>
              </a:spcBef>
              <a:tabLst>
                <a:tab pos="240665" algn="l"/>
                <a:tab pos="241300" algn="l"/>
              </a:tabLst>
            </a:pPr>
            <a:r>
              <a:rPr lang="en-US" sz="2800" b="1" spc="-10" dirty="0">
                <a:latin typeface="Calibri"/>
                <a:cs typeface="Calibri"/>
              </a:rPr>
              <a:t>Architecture</a:t>
            </a:r>
            <a:endParaRPr lang="en-US" sz="2800" b="1" spc="20" dirty="0">
              <a:latin typeface="Calibri"/>
              <a:cs typeface="Calibri"/>
            </a:endParaRPr>
          </a:p>
          <a:p>
            <a:pPr marL="812800" lvl="1" indent="-342900">
              <a:spcBef>
                <a:spcPts val="1030"/>
              </a:spcBef>
              <a:buFont typeface="Arial" panose="020B0604020202020204" pitchFamily="34" charset="0"/>
              <a:buChar char="•"/>
              <a:tabLst>
                <a:tab pos="240665" algn="l"/>
                <a:tab pos="241300" algn="l"/>
              </a:tabLst>
            </a:pPr>
            <a:r>
              <a:rPr lang="en-US" sz="1900" b="1" spc="20" dirty="0">
                <a:latin typeface="Calibri"/>
                <a:cs typeface="Calibri"/>
              </a:rPr>
              <a:t>Input</a:t>
            </a:r>
            <a:r>
              <a:rPr lang="en-US" sz="1900" b="1" spc="-35" dirty="0">
                <a:latin typeface="Calibri"/>
                <a:cs typeface="Calibri"/>
              </a:rPr>
              <a:t> </a:t>
            </a:r>
            <a:r>
              <a:rPr lang="en-US" sz="1900" b="1" spc="10" dirty="0">
                <a:latin typeface="Calibri"/>
                <a:cs typeface="Calibri"/>
              </a:rPr>
              <a:t>Layer</a:t>
            </a:r>
            <a:r>
              <a:rPr lang="en-US" sz="1900" spc="10" dirty="0">
                <a:latin typeface="Calibri"/>
                <a:cs typeface="Calibri"/>
              </a:rPr>
              <a:t>:</a:t>
            </a:r>
            <a:endParaRPr lang="en-US" sz="1900" dirty="0">
              <a:latin typeface="Calibri"/>
              <a:cs typeface="Calibri"/>
            </a:endParaRPr>
          </a:p>
          <a:p>
            <a:pPr marL="1270000" lvl="2" indent="-342900">
              <a:spcBef>
                <a:spcPts val="320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10" dirty="0">
                <a:latin typeface="Calibri"/>
                <a:cs typeface="Calibri"/>
              </a:rPr>
              <a:t>Face</a:t>
            </a:r>
            <a:r>
              <a:rPr lang="en-US" sz="1900" b="1" spc="-20" dirty="0">
                <a:latin typeface="Calibri"/>
                <a:cs typeface="Calibri"/>
              </a:rPr>
              <a:t> </a:t>
            </a:r>
            <a:r>
              <a:rPr lang="en-US" sz="1900" b="1" spc="20" dirty="0">
                <a:latin typeface="Calibri"/>
                <a:cs typeface="Calibri"/>
              </a:rPr>
              <a:t>Image</a:t>
            </a:r>
            <a:r>
              <a:rPr lang="en-US" sz="1900" spc="20" dirty="0">
                <a:latin typeface="Calibri"/>
                <a:cs typeface="Calibri"/>
              </a:rPr>
              <a:t>:</a:t>
            </a:r>
            <a:r>
              <a:rPr lang="en-US" sz="1900" spc="60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Passed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through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a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CNN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for</a:t>
            </a:r>
            <a:r>
              <a:rPr lang="en-US" sz="1900" spc="5" dirty="0">
                <a:latin typeface="Calibri"/>
                <a:cs typeface="Calibri"/>
              </a:rPr>
              <a:t> feature</a:t>
            </a:r>
            <a:r>
              <a:rPr lang="en-US" sz="1900" spc="70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extraction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and</a:t>
            </a:r>
            <a:r>
              <a:rPr lang="en-US" sz="1900" spc="30" dirty="0">
                <a:latin typeface="Calibri"/>
                <a:cs typeface="Calibri"/>
              </a:rPr>
              <a:t> emotion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classification.</a:t>
            </a:r>
            <a:endParaRPr lang="en-US" sz="1900" dirty="0">
              <a:latin typeface="Calibri"/>
              <a:cs typeface="Calibri"/>
            </a:endParaRPr>
          </a:p>
          <a:p>
            <a:pPr marL="1270000" lvl="2" indent="-34290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-25" dirty="0">
                <a:latin typeface="Calibri"/>
                <a:cs typeface="Calibri"/>
              </a:rPr>
              <a:t>Text</a:t>
            </a:r>
            <a:r>
              <a:rPr lang="en-US" sz="1900" b="1" spc="5" dirty="0">
                <a:latin typeface="Calibri"/>
                <a:cs typeface="Calibri"/>
              </a:rPr>
              <a:t> </a:t>
            </a:r>
            <a:r>
              <a:rPr lang="en-US" sz="1900" b="1" spc="15" dirty="0">
                <a:latin typeface="Calibri"/>
                <a:cs typeface="Calibri"/>
              </a:rPr>
              <a:t>Input</a:t>
            </a:r>
            <a:r>
              <a:rPr lang="en-US" sz="1900" spc="15" dirty="0">
                <a:latin typeface="Calibri"/>
                <a:cs typeface="Calibri"/>
              </a:rPr>
              <a:t>:</a:t>
            </a:r>
            <a:r>
              <a:rPr lang="en-US" sz="1900" spc="5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Tokenized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and</a:t>
            </a:r>
            <a:r>
              <a:rPr lang="en-US" sz="1900" spc="20" dirty="0">
                <a:latin typeface="Calibri"/>
                <a:cs typeface="Calibri"/>
              </a:rPr>
              <a:t> passed </a:t>
            </a:r>
            <a:r>
              <a:rPr lang="en-US" sz="1900" spc="15" dirty="0">
                <a:latin typeface="Calibri"/>
                <a:cs typeface="Calibri"/>
              </a:rPr>
              <a:t>through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</a:t>
            </a:r>
            <a:r>
              <a:rPr lang="en-US" sz="1900" spc="20" dirty="0">
                <a:latin typeface="Calibri"/>
                <a:cs typeface="Calibri"/>
              </a:rPr>
              <a:t> embedding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layer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followed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by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spc="40" dirty="0">
                <a:latin typeface="Calibri"/>
                <a:cs typeface="Calibri"/>
              </a:rPr>
              <a:t>RNN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for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sentiment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analysis.</a:t>
            </a:r>
            <a:endParaRPr lang="en-US" sz="1900" dirty="0">
              <a:latin typeface="Calibri"/>
              <a:cs typeface="Calibri"/>
            </a:endParaRPr>
          </a:p>
          <a:p>
            <a:pPr marL="698500" lvl="1" indent="-228600">
              <a:spcBef>
                <a:spcPts val="9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1900" b="1" spc="15" dirty="0">
                <a:latin typeface="Calibri"/>
                <a:cs typeface="Calibri"/>
              </a:rPr>
              <a:t>Hidden</a:t>
            </a:r>
            <a:r>
              <a:rPr lang="en-US" sz="1900" b="1" spc="50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Layers</a:t>
            </a:r>
            <a:r>
              <a:rPr lang="en-US" sz="1900" dirty="0">
                <a:latin typeface="Calibri"/>
                <a:cs typeface="Calibri"/>
              </a:rPr>
              <a:t>:</a:t>
            </a:r>
          </a:p>
          <a:p>
            <a:pPr marL="1270000" lvl="2" indent="-342900">
              <a:spcBef>
                <a:spcPts val="320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15" dirty="0">
                <a:latin typeface="Calibri"/>
                <a:cs typeface="Calibri"/>
              </a:rPr>
              <a:t>Emotion</a:t>
            </a:r>
            <a:r>
              <a:rPr lang="en-US" sz="1900" b="1" spc="80" dirty="0">
                <a:latin typeface="Calibri"/>
                <a:cs typeface="Calibri"/>
              </a:rPr>
              <a:t> </a:t>
            </a:r>
            <a:r>
              <a:rPr lang="en-US" sz="1900" b="1" spc="10" dirty="0">
                <a:latin typeface="Calibri"/>
                <a:cs typeface="Calibri"/>
              </a:rPr>
              <a:t>Detection</a:t>
            </a:r>
            <a:r>
              <a:rPr lang="en-US" sz="1900" spc="10" dirty="0">
                <a:latin typeface="Calibri"/>
                <a:cs typeface="Calibri"/>
              </a:rPr>
              <a:t>:</a:t>
            </a:r>
            <a:r>
              <a:rPr lang="en-US" sz="1900" spc="5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Multiple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convolutional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layers</a:t>
            </a:r>
            <a:r>
              <a:rPr lang="en-US" sz="1900" spc="10" dirty="0">
                <a:latin typeface="Calibri"/>
                <a:cs typeface="Calibri"/>
              </a:rPr>
              <a:t> followed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by</a:t>
            </a:r>
            <a:r>
              <a:rPr lang="en-US" sz="1900" spc="65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pooling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spc="30" dirty="0">
                <a:latin typeface="Calibri"/>
                <a:cs typeface="Calibri"/>
              </a:rPr>
              <a:t>and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fully</a:t>
            </a:r>
            <a:r>
              <a:rPr lang="en-US" sz="1900" spc="6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connected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layers</a:t>
            </a:r>
            <a:r>
              <a:rPr lang="en-US" sz="1900" spc="10" dirty="0">
                <a:latin typeface="Calibri"/>
                <a:cs typeface="Calibri"/>
              </a:rPr>
              <a:t> in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the</a:t>
            </a:r>
            <a:r>
              <a:rPr lang="en-US" sz="1900" spc="60" dirty="0">
                <a:latin typeface="Calibri"/>
                <a:cs typeface="Calibri"/>
              </a:rPr>
              <a:t> </a:t>
            </a:r>
            <a:r>
              <a:rPr lang="en-US" sz="1900" spc="20" dirty="0">
                <a:latin typeface="Calibri"/>
                <a:cs typeface="Calibri"/>
              </a:rPr>
              <a:t>CNN.</a:t>
            </a:r>
            <a:endParaRPr lang="en-US" sz="1900" dirty="0">
              <a:latin typeface="Calibri"/>
              <a:cs typeface="Calibri"/>
            </a:endParaRPr>
          </a:p>
          <a:p>
            <a:pPr marL="1270000" lvl="2" indent="-34290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15" dirty="0">
                <a:latin typeface="Calibri"/>
                <a:cs typeface="Calibri"/>
              </a:rPr>
              <a:t>Sentiment</a:t>
            </a:r>
            <a:r>
              <a:rPr lang="en-US" sz="1900" b="1" spc="5" dirty="0">
                <a:latin typeface="Calibri"/>
                <a:cs typeface="Calibri"/>
              </a:rPr>
              <a:t> </a:t>
            </a:r>
            <a:r>
              <a:rPr lang="en-US" sz="1900" b="1" spc="15" dirty="0">
                <a:latin typeface="Calibri"/>
                <a:cs typeface="Calibri"/>
              </a:rPr>
              <a:t>Analysis</a:t>
            </a:r>
            <a:r>
              <a:rPr lang="en-US" sz="1900" spc="15" dirty="0">
                <a:latin typeface="Calibri"/>
                <a:cs typeface="Calibri"/>
              </a:rPr>
              <a:t>:</a:t>
            </a:r>
            <a:r>
              <a:rPr lang="en-US" sz="1900" spc="5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LSTM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or </a:t>
            </a:r>
            <a:r>
              <a:rPr lang="en-US" sz="1900" spc="25" dirty="0">
                <a:latin typeface="Calibri"/>
                <a:cs typeface="Calibri"/>
              </a:rPr>
              <a:t>GRU</a:t>
            </a:r>
            <a:r>
              <a:rPr lang="en-US" sz="1900" spc="65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layers</a:t>
            </a:r>
            <a:r>
              <a:rPr lang="en-US" sz="1900" spc="15" dirty="0">
                <a:latin typeface="Calibri"/>
                <a:cs typeface="Calibri"/>
              </a:rPr>
              <a:t> in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the</a:t>
            </a:r>
            <a:r>
              <a:rPr lang="en-US" sz="1900" spc="6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RNN</a:t>
            </a:r>
            <a:r>
              <a:rPr lang="en-US" sz="1900" spc="60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for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capturing</a:t>
            </a:r>
            <a:r>
              <a:rPr lang="en-US" sz="1900" spc="3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sequential</a:t>
            </a:r>
            <a:r>
              <a:rPr lang="en-US" sz="1900" spc="35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dependencies</a:t>
            </a:r>
            <a:r>
              <a:rPr lang="en-US" sz="1900" spc="1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in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text</a:t>
            </a:r>
            <a:r>
              <a:rPr lang="en-US" sz="1900" spc="30" dirty="0">
                <a:latin typeface="Calibri"/>
                <a:cs typeface="Calibri"/>
              </a:rPr>
              <a:t> </a:t>
            </a:r>
            <a:r>
              <a:rPr lang="en-US" sz="1900" spc="5" dirty="0">
                <a:latin typeface="Calibri"/>
                <a:cs typeface="Calibri"/>
              </a:rPr>
              <a:t>data.</a:t>
            </a:r>
            <a:endParaRPr lang="en-US" sz="1900" dirty="0">
              <a:latin typeface="Calibri"/>
              <a:cs typeface="Calibri"/>
            </a:endParaRPr>
          </a:p>
          <a:p>
            <a:pPr marL="698500" lvl="1" indent="-228600">
              <a:spcBef>
                <a:spcPts val="8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1900" b="1" spc="20" dirty="0">
                <a:latin typeface="Calibri"/>
                <a:cs typeface="Calibri"/>
              </a:rPr>
              <a:t>Output</a:t>
            </a:r>
            <a:r>
              <a:rPr lang="en-US" sz="1900" b="1" spc="35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Layer</a:t>
            </a:r>
            <a:r>
              <a:rPr lang="en-US" sz="1900" dirty="0">
                <a:latin typeface="Calibri"/>
                <a:cs typeface="Calibri"/>
              </a:rPr>
              <a:t>:</a:t>
            </a:r>
          </a:p>
          <a:p>
            <a:pPr marL="1270000" lvl="2" indent="-342900">
              <a:spcBef>
                <a:spcPts val="395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15" dirty="0">
                <a:latin typeface="Calibri"/>
                <a:cs typeface="Calibri"/>
              </a:rPr>
              <a:t>Emotion</a:t>
            </a:r>
            <a:r>
              <a:rPr lang="en-US" sz="1900" b="1" spc="80" dirty="0">
                <a:latin typeface="Calibri"/>
                <a:cs typeface="Calibri"/>
              </a:rPr>
              <a:t> </a:t>
            </a:r>
            <a:r>
              <a:rPr lang="en-US" sz="1900" b="1" spc="10" dirty="0">
                <a:latin typeface="Calibri"/>
                <a:cs typeface="Calibri"/>
              </a:rPr>
              <a:t>Detection</a:t>
            </a:r>
            <a:r>
              <a:rPr lang="en-US" sz="1900" spc="10" dirty="0">
                <a:latin typeface="Calibri"/>
                <a:cs typeface="Calibri"/>
              </a:rPr>
              <a:t>:</a:t>
            </a:r>
            <a:r>
              <a:rPr lang="en-US" sz="1900" spc="20" dirty="0">
                <a:latin typeface="Calibri"/>
                <a:cs typeface="Calibri"/>
              </a:rPr>
              <a:t> </a:t>
            </a:r>
            <a:r>
              <a:rPr lang="en-US" sz="1900" spc="20" dirty="0" err="1">
                <a:latin typeface="Calibri"/>
                <a:cs typeface="Calibri"/>
              </a:rPr>
              <a:t>Softmax</a:t>
            </a:r>
            <a:r>
              <a:rPr lang="en-US" sz="1900" spc="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layer</a:t>
            </a:r>
            <a:r>
              <a:rPr lang="en-US" sz="190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for</a:t>
            </a:r>
            <a:r>
              <a:rPr lang="en-US" sz="1900" spc="7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classifying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spc="25" dirty="0">
                <a:latin typeface="Calibri"/>
                <a:cs typeface="Calibri"/>
              </a:rPr>
              <a:t>emotions</a:t>
            </a:r>
            <a:r>
              <a:rPr lang="en-US" sz="1900" spc="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into</a:t>
            </a:r>
            <a:r>
              <a:rPr lang="en-US" sz="1900" spc="15" dirty="0">
                <a:latin typeface="Calibri"/>
                <a:cs typeface="Calibri"/>
              </a:rPr>
              <a:t> categories</a:t>
            </a:r>
            <a:r>
              <a:rPr lang="en-US" sz="1900" spc="10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like</a:t>
            </a:r>
            <a:r>
              <a:rPr lang="en-US" sz="1900" spc="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Happy,</a:t>
            </a:r>
            <a:r>
              <a:rPr lang="en-US" sz="1900" spc="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Sad,</a:t>
            </a:r>
            <a:r>
              <a:rPr lang="en-US" sz="1900" spc="5" dirty="0">
                <a:latin typeface="Calibri"/>
                <a:cs typeface="Calibri"/>
              </a:rPr>
              <a:t> </a:t>
            </a:r>
            <a:r>
              <a:rPr lang="en-US" sz="1900" spc="-5" dirty="0">
                <a:latin typeface="Calibri"/>
                <a:cs typeface="Calibri"/>
              </a:rPr>
              <a:t>Angry,</a:t>
            </a:r>
            <a:r>
              <a:rPr lang="en-US" sz="1900" spc="8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etc.</a:t>
            </a:r>
          </a:p>
          <a:p>
            <a:pPr marL="1270000" lvl="2" indent="-342900">
              <a:spcBef>
                <a:spcPts val="390"/>
              </a:spcBef>
              <a:buFont typeface="Courier New" panose="02070309020205020404" pitchFamily="49" charset="0"/>
              <a:buChar char="o"/>
              <a:tabLst>
                <a:tab pos="698500" algn="l"/>
                <a:tab pos="699135" algn="l"/>
              </a:tabLst>
            </a:pPr>
            <a:r>
              <a:rPr lang="en-US" sz="1900" b="1" spc="15" dirty="0">
                <a:latin typeface="Calibri"/>
                <a:cs typeface="Calibri"/>
              </a:rPr>
              <a:t>Sentiment</a:t>
            </a:r>
            <a:r>
              <a:rPr lang="en-US" sz="1900" b="1" spc="5" dirty="0">
                <a:latin typeface="Calibri"/>
                <a:cs typeface="Calibri"/>
              </a:rPr>
              <a:t> </a:t>
            </a:r>
            <a:r>
              <a:rPr lang="en-US" sz="1900" b="1" spc="15" dirty="0">
                <a:latin typeface="Calibri"/>
                <a:cs typeface="Calibri"/>
              </a:rPr>
              <a:t>Analysis</a:t>
            </a:r>
            <a:r>
              <a:rPr lang="en-US" sz="1900" spc="15" dirty="0">
                <a:latin typeface="Calibri"/>
                <a:cs typeface="Calibri"/>
              </a:rPr>
              <a:t>:</a:t>
            </a:r>
            <a:r>
              <a:rPr lang="en-US" sz="1900" spc="25" dirty="0">
                <a:latin typeface="Calibri"/>
                <a:cs typeface="Calibri"/>
              </a:rPr>
              <a:t> </a:t>
            </a:r>
            <a:r>
              <a:rPr lang="en-US" sz="1900" spc="15" dirty="0" err="1">
                <a:latin typeface="Calibri"/>
                <a:cs typeface="Calibri"/>
              </a:rPr>
              <a:t>Softmax</a:t>
            </a:r>
            <a:r>
              <a:rPr lang="en-US" sz="1900" spc="1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layer </a:t>
            </a:r>
            <a:r>
              <a:rPr lang="en-US" sz="1900" spc="-5" dirty="0">
                <a:latin typeface="Calibri"/>
                <a:cs typeface="Calibri"/>
              </a:rPr>
              <a:t>for</a:t>
            </a:r>
            <a:r>
              <a:rPr lang="en-US" sz="1900" spc="8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classifying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sentiments </a:t>
            </a:r>
            <a:r>
              <a:rPr lang="en-US" sz="1900" spc="10" dirty="0">
                <a:latin typeface="Calibri"/>
                <a:cs typeface="Calibri"/>
              </a:rPr>
              <a:t>as</a:t>
            </a:r>
            <a:r>
              <a:rPr lang="en-US" sz="1900" spc="90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Positive,</a:t>
            </a:r>
            <a:r>
              <a:rPr lang="en-US" sz="1900" spc="15" dirty="0">
                <a:latin typeface="Calibri"/>
                <a:cs typeface="Calibri"/>
              </a:rPr>
              <a:t> </a:t>
            </a:r>
            <a:r>
              <a:rPr lang="en-US" sz="1900" spc="10" dirty="0">
                <a:latin typeface="Calibri"/>
                <a:cs typeface="Calibri"/>
              </a:rPr>
              <a:t>Negative,</a:t>
            </a:r>
            <a:r>
              <a:rPr lang="en-US" sz="1900" spc="15" dirty="0">
                <a:latin typeface="Calibri"/>
                <a:cs typeface="Calibri"/>
              </a:rPr>
              <a:t> </a:t>
            </a:r>
            <a:r>
              <a:rPr lang="en-US" sz="1900" spc="40" dirty="0">
                <a:latin typeface="Calibri"/>
                <a:cs typeface="Calibri"/>
              </a:rPr>
              <a:t>or</a:t>
            </a:r>
            <a:r>
              <a:rPr lang="en-US" sz="1900" spc="10" dirty="0">
                <a:latin typeface="Calibri"/>
                <a:cs typeface="Calibri"/>
              </a:rPr>
              <a:t> </a:t>
            </a:r>
            <a:r>
              <a:rPr lang="en-US" sz="1900" spc="15" dirty="0">
                <a:latin typeface="Calibri"/>
                <a:cs typeface="Calibri"/>
              </a:rPr>
              <a:t>Neutral</a:t>
            </a:r>
            <a:endParaRPr lang="en-US" sz="1900" dirty="0">
              <a:latin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907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7086600" cy="45781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75"/>
              </a:spcBef>
            </a:pPr>
            <a:r>
              <a:rPr sz="3200" b="0" spc="-5" dirty="0">
                <a:latin typeface="Calibri Light"/>
                <a:cs typeface="Calibri Light"/>
              </a:rPr>
              <a:t>Screen </a:t>
            </a:r>
            <a:r>
              <a:rPr sz="3200" b="0" spc="-10" dirty="0">
                <a:latin typeface="Calibri Light"/>
                <a:cs typeface="Calibri Light"/>
              </a:rPr>
              <a:t>shots </a:t>
            </a:r>
            <a:r>
              <a:rPr sz="3200" b="0" spc="-5" dirty="0">
                <a:latin typeface="Calibri Light"/>
                <a:cs typeface="Calibri Light"/>
              </a:rPr>
              <a:t>of </a:t>
            </a:r>
            <a:r>
              <a:rPr sz="3200" b="0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implemented</a:t>
            </a:r>
            <a:r>
              <a:rPr sz="3200" b="0" spc="-125" dirty="0">
                <a:latin typeface="Calibri Light"/>
                <a:cs typeface="Calibri Light"/>
              </a:rPr>
              <a:t> </a:t>
            </a:r>
            <a:r>
              <a:rPr sz="3200" b="0" spc="10" dirty="0">
                <a:latin typeface="Calibri Light"/>
                <a:cs typeface="Calibri Light"/>
              </a:rPr>
              <a:t>work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7575" y="6495415"/>
            <a:ext cx="7442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25-08-2024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4805" y="6495415"/>
            <a:ext cx="16351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sz="1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Presentation</a:t>
            </a:r>
            <a:r>
              <a:rPr sz="1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404040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79175" y="648557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04040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339F9-FDC0-71E3-F40C-754FED63D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0"/>
            <a:ext cx="5908546" cy="3346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96FB3-B1AB-878C-18E2-18125FAE8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593" y="1943522"/>
            <a:ext cx="5347918" cy="3848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9F8A-47D5-DB4E-D075-34A6D98F2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89741"/>
            <a:ext cx="9525000" cy="2791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B1BF60-C9E8-1D99-F76E-2F7DA3AF1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79" y="3657600"/>
            <a:ext cx="9555822" cy="268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30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7" y="63118"/>
            <a:ext cx="46678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95" dirty="0">
                <a:latin typeface="Calibri Light"/>
                <a:cs typeface="Calibri Light"/>
              </a:rPr>
              <a:t>Testing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of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spc="-15" dirty="0">
                <a:latin typeface="Calibri Light"/>
                <a:cs typeface="Calibri Light"/>
              </a:rPr>
              <a:t>the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spc="-55" dirty="0">
                <a:latin typeface="Calibri Light"/>
                <a:cs typeface="Calibri Light"/>
              </a:rPr>
              <a:t>Project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854055"/>
            <a:ext cx="11258233" cy="399083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698500" marR="452755" lvl="1" indent="-228600">
              <a:lnSpc>
                <a:spcPts val="195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15" dirty="0">
                <a:latin typeface="Calibri"/>
                <a:cs typeface="Calibri"/>
              </a:rPr>
              <a:t>Unit</a:t>
            </a:r>
            <a:r>
              <a:rPr b="1" spc="2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Testing</a:t>
            </a:r>
            <a:r>
              <a:rPr spc="-25" dirty="0">
                <a:latin typeface="Calibri"/>
                <a:cs typeface="Calibri"/>
              </a:rPr>
              <a:t>: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Verifies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functionality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of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individual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components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like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facial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feature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extraction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sentiment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tokenization.</a:t>
            </a:r>
            <a:endParaRPr dirty="0">
              <a:latin typeface="Calibri"/>
              <a:cs typeface="Calibri"/>
            </a:endParaRPr>
          </a:p>
          <a:p>
            <a:pPr marL="698500" marR="305435" lvl="1" indent="-228600">
              <a:lnSpc>
                <a:spcPts val="1950"/>
              </a:lnSpc>
              <a:spcBef>
                <a:spcPts val="9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15" dirty="0">
                <a:latin typeface="Calibri"/>
                <a:cs typeface="Calibri"/>
              </a:rPr>
              <a:t>Integration </a:t>
            </a:r>
            <a:r>
              <a:rPr b="1" spc="-25" dirty="0">
                <a:latin typeface="Calibri"/>
                <a:cs typeface="Calibri"/>
              </a:rPr>
              <a:t>Testing</a:t>
            </a:r>
            <a:r>
              <a:rPr spc="-25" dirty="0">
                <a:latin typeface="Calibri"/>
                <a:cs typeface="Calibri"/>
              </a:rPr>
              <a:t>: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Ensures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that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different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components,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such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15" dirty="0">
                <a:latin typeface="Calibri"/>
                <a:cs typeface="Calibri"/>
              </a:rPr>
              <a:t>as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emotion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detection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model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sentiment </a:t>
            </a:r>
            <a:r>
              <a:rPr spc="-39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analysis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model,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work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together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seamlessly.</a:t>
            </a:r>
            <a:endParaRPr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195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25" dirty="0">
                <a:latin typeface="Calibri"/>
                <a:cs typeface="Calibri"/>
              </a:rPr>
              <a:t>System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Testing</a:t>
            </a:r>
            <a:r>
              <a:rPr spc="-25" dirty="0">
                <a:latin typeface="Calibri"/>
                <a:cs typeface="Calibri"/>
              </a:rPr>
              <a:t>: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Evaluates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complete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system,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testing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end-to-end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workflow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from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input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ensuring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that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system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behaves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15" dirty="0">
                <a:latin typeface="Calibri"/>
                <a:cs typeface="Calibri"/>
              </a:rPr>
              <a:t>as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expected</a:t>
            </a:r>
            <a:r>
              <a:rPr spc="7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in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real-world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scenarios.</a:t>
            </a:r>
            <a:endParaRPr dirty="0">
              <a:latin typeface="Calibri"/>
              <a:cs typeface="Calibri"/>
            </a:endParaRPr>
          </a:p>
          <a:p>
            <a:pPr marL="698500" lvl="1" indent="-228600">
              <a:spcBef>
                <a:spcPts val="7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40" dirty="0">
                <a:latin typeface="Calibri"/>
                <a:cs typeface="Calibri"/>
              </a:rPr>
              <a:t>Tools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Used</a:t>
            </a:r>
            <a:endParaRPr dirty="0">
              <a:latin typeface="Calibri"/>
              <a:cs typeface="Calibri"/>
            </a:endParaRPr>
          </a:p>
          <a:p>
            <a:pPr marL="698500" lvl="1" indent="-228600">
              <a:spcBef>
                <a:spcPts val="77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5" dirty="0">
                <a:latin typeface="Calibri"/>
                <a:cs typeface="Calibri"/>
              </a:rPr>
              <a:t>Py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40" dirty="0">
                <a:latin typeface="Calibri"/>
                <a:cs typeface="Calibri"/>
              </a:rPr>
              <a:t>Test</a:t>
            </a:r>
            <a:r>
              <a:rPr spc="-40" dirty="0">
                <a:latin typeface="Calibri"/>
                <a:cs typeface="Calibri"/>
              </a:rPr>
              <a:t>: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 </a:t>
            </a:r>
            <a:r>
              <a:rPr spc="-30" dirty="0">
                <a:latin typeface="Calibri"/>
                <a:cs typeface="Calibri"/>
              </a:rPr>
              <a:t>for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unit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testing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ensure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each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module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functions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correctly.</a:t>
            </a:r>
            <a:endParaRPr dirty="0">
              <a:latin typeface="Calibri"/>
              <a:cs typeface="Calibri"/>
            </a:endParaRPr>
          </a:p>
          <a:p>
            <a:pPr marL="698500" lvl="1" indent="-228600">
              <a:spcBef>
                <a:spcPts val="84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15" dirty="0">
                <a:latin typeface="Calibri"/>
                <a:cs typeface="Calibri"/>
              </a:rPr>
              <a:t>Unit</a:t>
            </a:r>
            <a:r>
              <a:rPr b="1" spc="3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test</a:t>
            </a:r>
            <a:r>
              <a:rPr b="1" spc="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(Python)</a:t>
            </a:r>
            <a:r>
              <a:rPr dirty="0">
                <a:latin typeface="Calibri"/>
                <a:cs typeface="Calibri"/>
              </a:rPr>
              <a:t>: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Employed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for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integration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testing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 </a:t>
            </a:r>
            <a:r>
              <a:rPr spc="-20" dirty="0">
                <a:latin typeface="Calibri"/>
                <a:cs typeface="Calibri"/>
              </a:rPr>
              <a:t>validate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interaction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between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components.</a:t>
            </a:r>
            <a:endParaRPr dirty="0">
              <a:latin typeface="Calibri"/>
              <a:cs typeface="Calibri"/>
            </a:endParaRPr>
          </a:p>
          <a:p>
            <a:pPr marL="698500" marR="144145" lvl="1" indent="-228600">
              <a:lnSpc>
                <a:spcPts val="195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10" dirty="0">
                <a:latin typeface="Calibri"/>
                <a:cs typeface="Calibri"/>
              </a:rPr>
              <a:t>Manual</a:t>
            </a:r>
            <a:r>
              <a:rPr b="1" spc="5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Testing</a:t>
            </a:r>
            <a:r>
              <a:rPr spc="-30" dirty="0">
                <a:latin typeface="Calibri"/>
                <a:cs typeface="Calibri"/>
              </a:rPr>
              <a:t>: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Performed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for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system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testing,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focusing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on</a:t>
            </a:r>
            <a:r>
              <a:rPr spc="5" dirty="0">
                <a:latin typeface="Calibri"/>
                <a:cs typeface="Calibri"/>
              </a:rPr>
              <a:t> 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overall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user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experience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and</a:t>
            </a:r>
            <a:r>
              <a:rPr spc="5" dirty="0">
                <a:latin typeface="Calibri"/>
                <a:cs typeface="Calibri"/>
              </a:rPr>
              <a:t> the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accuracy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5" dirty="0">
                <a:latin typeface="Calibri"/>
                <a:cs typeface="Calibri"/>
              </a:rPr>
              <a:t>the </a:t>
            </a:r>
            <a:r>
              <a:rPr spc="-39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results.</a:t>
            </a:r>
            <a:endParaRPr lang="en-IN" dirty="0">
              <a:latin typeface="Calibri"/>
              <a:cs typeface="Calibri"/>
            </a:endParaRPr>
          </a:p>
          <a:p>
            <a:pPr marL="241300" marR="144145" indent="-228600">
              <a:lnSpc>
                <a:spcPts val="195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30" dirty="0">
                <a:latin typeface="Arial"/>
                <a:cs typeface="Arial"/>
              </a:rPr>
              <a:t>Test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Cases</a:t>
            </a:r>
            <a:endParaRPr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470322"/>
              </p:ext>
            </p:extLst>
          </p:nvPr>
        </p:nvGraphicFramePr>
        <p:xfrm>
          <a:off x="533400" y="4876800"/>
          <a:ext cx="11007088" cy="1575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0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5457">
                <a:tc>
                  <a:txBody>
                    <a:bodyPr/>
                    <a:lstStyle/>
                    <a:p>
                      <a:pPr marL="127000">
                        <a:lnSpc>
                          <a:spcPts val="207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20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3390">
                        <a:lnSpc>
                          <a:spcPts val="207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207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Input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2075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2075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ts val="2075"/>
                        </a:lnSpc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Status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8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TC1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453390" marR="485140">
                        <a:lnSpc>
                          <a:spcPct val="100800"/>
                        </a:lnSpc>
                        <a:spcBef>
                          <a:spcPts val="260"/>
                        </a:spcBef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6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spc="3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  Emotion</a:t>
                      </a: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274320" marR="169545">
                        <a:lnSpc>
                          <a:spcPct val="1008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smiling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face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Happy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Happy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TC2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453390" marR="266700">
                        <a:lnSpc>
                          <a:spcPct val="100899"/>
                        </a:lnSpc>
                        <a:spcBef>
                          <a:spcPts val="254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Analyze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Positive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Sentiment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274320" marR="873760">
                        <a:lnSpc>
                          <a:spcPct val="100899"/>
                        </a:lnSpc>
                        <a:spcBef>
                          <a:spcPts val="254"/>
                        </a:spcBef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"I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love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this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product!"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Positive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Positive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Pass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727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38730"/>
            <a:ext cx="244221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35" dirty="0">
                <a:latin typeface="Calibri Light"/>
                <a:cs typeface="Calibri Light"/>
              </a:rPr>
              <a:t>Conclusion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82676" y="1330005"/>
            <a:ext cx="10721975" cy="464787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98500" marR="5080" lvl="1" indent="-229235">
              <a:lnSpc>
                <a:spcPct val="91800"/>
              </a:lnSpc>
              <a:spcBef>
                <a:spcPts val="40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400" spc="2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project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successfully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developed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robust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detecting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facial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emotions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analyzing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sentiments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accuracy.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Key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achievements </a:t>
            </a:r>
            <a:r>
              <a:rPr sz="2400" spc="15" dirty="0">
                <a:latin typeface="Calibri"/>
                <a:cs typeface="Calibri"/>
              </a:rPr>
              <a:t>include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implementation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of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advanced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facial</a:t>
            </a:r>
            <a:r>
              <a:rPr sz="2400" spc="10" dirty="0">
                <a:latin typeface="Calibri"/>
                <a:cs typeface="Calibri"/>
              </a:rPr>
              <a:t> recognition </a:t>
            </a:r>
            <a:r>
              <a:rPr sz="2400" spc="-60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algorithms, </a:t>
            </a:r>
            <a:r>
              <a:rPr sz="2400" dirty="0">
                <a:latin typeface="Calibri"/>
                <a:cs typeface="Calibri"/>
              </a:rPr>
              <a:t>effective </a:t>
            </a:r>
            <a:r>
              <a:rPr sz="2400" spc="10" dirty="0">
                <a:latin typeface="Calibri"/>
                <a:cs typeface="Calibri"/>
              </a:rPr>
              <a:t>emotion classification, </a:t>
            </a:r>
            <a:r>
              <a:rPr sz="2400" spc="30" dirty="0">
                <a:latin typeface="Calibri"/>
                <a:cs typeface="Calibri"/>
              </a:rPr>
              <a:t>and </a:t>
            </a:r>
            <a:r>
              <a:rPr sz="2400" spc="15" dirty="0">
                <a:latin typeface="Calibri"/>
                <a:cs typeface="Calibri"/>
              </a:rPr>
              <a:t>precise </a:t>
            </a:r>
            <a:r>
              <a:rPr sz="2400" spc="10" dirty="0">
                <a:latin typeface="Calibri"/>
                <a:cs typeface="Calibri"/>
              </a:rPr>
              <a:t>sentiment 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analysis.</a:t>
            </a:r>
            <a:r>
              <a:rPr sz="2400" spc="20" dirty="0">
                <a:latin typeface="Calibri"/>
                <a:cs typeface="Calibri"/>
              </a:rPr>
              <a:t> 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demonstrates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reliable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performance </a:t>
            </a:r>
            <a:r>
              <a:rPr sz="2400" spc="-10" dirty="0">
                <a:latin typeface="Calibri"/>
                <a:cs typeface="Calibri"/>
              </a:rPr>
              <a:t>in</a:t>
            </a:r>
            <a:r>
              <a:rPr sz="2400" spc="15" dirty="0">
                <a:latin typeface="Calibri"/>
                <a:cs typeface="Calibri"/>
              </a:rPr>
              <a:t> real-world 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scenarios,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providing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valuable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insights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user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emotions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 </a:t>
            </a:r>
            <a:r>
              <a:rPr sz="2400" spc="10" dirty="0">
                <a:latin typeface="Calibri"/>
                <a:cs typeface="Calibri"/>
              </a:rPr>
              <a:t> sentiments.</a:t>
            </a:r>
            <a:endParaRPr lang="en-IN" sz="2400" spc="10" dirty="0">
              <a:latin typeface="Calibri"/>
              <a:cs typeface="Calibri"/>
            </a:endParaRPr>
          </a:p>
          <a:p>
            <a:pPr marL="12065" marR="5080">
              <a:lnSpc>
                <a:spcPct val="91800"/>
              </a:lnSpc>
              <a:spcBef>
                <a:spcPts val="400"/>
              </a:spcBef>
              <a:tabLst>
                <a:tab pos="321945" algn="l"/>
                <a:tab pos="322580" algn="l"/>
              </a:tabLst>
            </a:pPr>
            <a:endParaRPr sz="2400" dirty="0">
              <a:latin typeface="Calibri"/>
              <a:cs typeface="Calibri"/>
            </a:endParaRPr>
          </a:p>
          <a:p>
            <a:pPr marL="698500" marR="120650" lvl="1" indent="-229235">
              <a:lnSpc>
                <a:spcPct val="91800"/>
              </a:lnSpc>
              <a:spcBef>
                <a:spcPts val="103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15" dirty="0">
                <a:latin typeface="Calibri"/>
                <a:cs typeface="Calibri"/>
              </a:rPr>
              <a:t>Challenges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Faced: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Significant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hurdles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included</a:t>
            </a:r>
            <a:r>
              <a:rPr sz="2400" spc="20" dirty="0">
                <a:latin typeface="Calibri"/>
                <a:cs typeface="Calibri"/>
              </a:rPr>
              <a:t> handling </a:t>
            </a:r>
            <a:r>
              <a:rPr sz="2400" dirty="0">
                <a:latin typeface="Calibri"/>
                <a:cs typeface="Calibri"/>
              </a:rPr>
              <a:t>variations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in 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lighting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conditions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and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facial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expressions,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20" dirty="0">
                <a:latin typeface="Calibri"/>
                <a:cs typeface="Calibri"/>
              </a:rPr>
              <a:t> as </a:t>
            </a:r>
            <a:r>
              <a:rPr sz="2400" spc="-5" dirty="0">
                <a:latin typeface="Calibri"/>
                <a:cs typeface="Calibri"/>
              </a:rPr>
              <a:t>integrating</a:t>
            </a:r>
            <a:r>
              <a:rPr sz="2400" spc="20" dirty="0">
                <a:latin typeface="Calibri"/>
                <a:cs typeface="Calibri"/>
              </a:rPr>
              <a:t> emotion </a:t>
            </a:r>
            <a:r>
              <a:rPr sz="2400" spc="-60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detection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with </a:t>
            </a:r>
            <a:r>
              <a:rPr sz="2400" spc="10" dirty="0">
                <a:latin typeface="Calibri"/>
                <a:cs typeface="Calibri"/>
              </a:rPr>
              <a:t>sentiment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analysis.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20" dirty="0">
                <a:latin typeface="Calibri"/>
                <a:cs typeface="Calibri"/>
              </a:rPr>
              <a:t>These </a:t>
            </a:r>
            <a:r>
              <a:rPr sz="2400" spc="15" dirty="0">
                <a:latin typeface="Calibri"/>
                <a:cs typeface="Calibri"/>
              </a:rPr>
              <a:t>challenges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were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addressed 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through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use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diverse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training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datasets,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robust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preprocessing 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techniques,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fine-tuning </a:t>
            </a:r>
            <a:r>
              <a:rPr sz="2400" spc="25" dirty="0">
                <a:latin typeface="Calibri"/>
                <a:cs typeface="Calibri"/>
              </a:rPr>
              <a:t>of </a:t>
            </a:r>
            <a:r>
              <a:rPr sz="2400" spc="15" dirty="0">
                <a:latin typeface="Calibri"/>
                <a:cs typeface="Calibri"/>
              </a:rPr>
              <a:t>machine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learning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models.</a:t>
            </a:r>
            <a:r>
              <a:rPr sz="2400" spc="25" dirty="0">
                <a:latin typeface="Calibri"/>
                <a:cs typeface="Calibri"/>
              </a:rPr>
              <a:t> 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iterative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15" dirty="0">
                <a:latin typeface="Calibri"/>
                <a:cs typeface="Calibri"/>
              </a:rPr>
              <a:t>approach </a:t>
            </a:r>
            <a:r>
              <a:rPr sz="2400" spc="30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continuous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testing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ensured</a:t>
            </a:r>
            <a:r>
              <a:rPr sz="2400" spc="15" dirty="0">
                <a:latin typeface="Calibri"/>
                <a:cs typeface="Calibri"/>
              </a:rPr>
              <a:t> 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system’s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reliability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and 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effectiveness.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41960"/>
            <a:ext cx="279146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45" dirty="0">
                <a:latin typeface="Calibri Light"/>
                <a:cs typeface="Calibri Light"/>
              </a:rPr>
              <a:t>Future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spc="-85" dirty="0">
                <a:latin typeface="Calibri Light"/>
                <a:cs typeface="Calibri Light"/>
              </a:rPr>
              <a:t>Work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11517" y="1534477"/>
            <a:ext cx="10487025" cy="416280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marR="596900" indent="-229235">
              <a:lnSpc>
                <a:spcPts val="2100"/>
              </a:lnSpc>
              <a:spcBef>
                <a:spcPts val="44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cs typeface="Times New Roman"/>
              </a:rPr>
              <a:t>Advanced </a:t>
            </a:r>
            <a:r>
              <a:rPr sz="2000" b="1" dirty="0">
                <a:cs typeface="Times New Roman"/>
              </a:rPr>
              <a:t>Emotion Recognition </a:t>
            </a:r>
            <a:r>
              <a:rPr sz="2000" b="1" spc="-5" dirty="0">
                <a:cs typeface="Times New Roman"/>
              </a:rPr>
              <a:t>Models: </a:t>
            </a:r>
            <a:r>
              <a:rPr sz="2000" spc="5" dirty="0">
                <a:cs typeface="Times New Roman"/>
              </a:rPr>
              <a:t>Explore </a:t>
            </a:r>
            <a:r>
              <a:rPr sz="2000" dirty="0">
                <a:cs typeface="Times New Roman"/>
              </a:rPr>
              <a:t>and </a:t>
            </a:r>
            <a:r>
              <a:rPr sz="2000" spc="-5" dirty="0">
                <a:cs typeface="Times New Roman"/>
              </a:rPr>
              <a:t>integrate state-of-the-art </a:t>
            </a:r>
            <a:r>
              <a:rPr sz="2000" dirty="0">
                <a:cs typeface="Times New Roman"/>
              </a:rPr>
              <a:t>deep learning </a:t>
            </a:r>
            <a:r>
              <a:rPr sz="2000" spc="-484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models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enhance</a:t>
            </a:r>
            <a:r>
              <a:rPr sz="2000" spc="25" dirty="0">
                <a:cs typeface="Times New Roman"/>
              </a:rPr>
              <a:t> </a:t>
            </a:r>
            <a:r>
              <a:rPr sz="2000" spc="-25" dirty="0">
                <a:cs typeface="Times New Roman"/>
              </a:rPr>
              <a:t>accuracy,</a:t>
            </a:r>
            <a:r>
              <a:rPr sz="2000" spc="4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especially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in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capturing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subtle</a:t>
            </a:r>
            <a:r>
              <a:rPr sz="2000" spc="-45" dirty="0">
                <a:cs typeface="Times New Roman"/>
              </a:rPr>
              <a:t> </a:t>
            </a:r>
            <a:r>
              <a:rPr sz="2000" spc="20" dirty="0">
                <a:cs typeface="Times New Roman"/>
              </a:rPr>
              <a:t>and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complex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emotional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expressions.</a:t>
            </a:r>
            <a:endParaRPr sz="2000" dirty="0">
              <a:cs typeface="Times New Roman"/>
            </a:endParaRPr>
          </a:p>
          <a:p>
            <a:pPr marL="241300" marR="151130" indent="-229235">
              <a:lnSpc>
                <a:spcPts val="218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cs typeface="Times New Roman"/>
              </a:rPr>
              <a:t>Multimodal Integration: </a:t>
            </a:r>
            <a:r>
              <a:rPr sz="2000" spc="-5" dirty="0">
                <a:cs typeface="Times New Roman"/>
              </a:rPr>
              <a:t>Investigate </a:t>
            </a:r>
            <a:r>
              <a:rPr sz="2000" spc="5" dirty="0">
                <a:cs typeface="Times New Roman"/>
              </a:rPr>
              <a:t>the </a:t>
            </a:r>
            <a:r>
              <a:rPr sz="2000" spc="-10" dirty="0">
                <a:cs typeface="Times New Roman"/>
              </a:rPr>
              <a:t>integration </a:t>
            </a:r>
            <a:r>
              <a:rPr sz="2000" spc="25" dirty="0">
                <a:cs typeface="Times New Roman"/>
              </a:rPr>
              <a:t>of </a:t>
            </a:r>
            <a:r>
              <a:rPr sz="2000" spc="-5" dirty="0">
                <a:cs typeface="Times New Roman"/>
              </a:rPr>
              <a:t>multiple modalities, </a:t>
            </a:r>
            <a:r>
              <a:rPr sz="2000" spc="10" dirty="0">
                <a:cs typeface="Times New Roman"/>
              </a:rPr>
              <a:t>such as </a:t>
            </a:r>
            <a:r>
              <a:rPr sz="2000" dirty="0">
                <a:cs typeface="Times New Roman"/>
              </a:rPr>
              <a:t>voice and </a:t>
            </a:r>
            <a:r>
              <a:rPr sz="2000" spc="-5" dirty="0">
                <a:cs typeface="Times New Roman"/>
              </a:rPr>
              <a:t>text, </a:t>
            </a:r>
            <a:r>
              <a:rPr sz="2000" spc="-484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to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create</a:t>
            </a:r>
            <a:r>
              <a:rPr sz="2000" spc="20" dirty="0">
                <a:cs typeface="Times New Roman"/>
              </a:rPr>
              <a:t> </a:t>
            </a:r>
            <a:r>
              <a:rPr sz="2000" spc="10" dirty="0">
                <a:cs typeface="Times New Roman"/>
              </a:rPr>
              <a:t>a</a:t>
            </a:r>
            <a:r>
              <a:rPr sz="2000" spc="-5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more</a:t>
            </a:r>
            <a:r>
              <a:rPr sz="2000" spc="-5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comprehensive</a:t>
            </a:r>
            <a:r>
              <a:rPr sz="2000" spc="-5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understanding</a:t>
            </a:r>
            <a:r>
              <a:rPr sz="2000" spc="-2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of</a:t>
            </a:r>
            <a:r>
              <a:rPr sz="2000" spc="2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user</a:t>
            </a:r>
            <a:r>
              <a:rPr sz="2000" spc="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emotions</a:t>
            </a:r>
            <a:r>
              <a:rPr sz="2000" spc="-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and</a:t>
            </a:r>
            <a:r>
              <a:rPr sz="2000" spc="-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sentiments.</a:t>
            </a:r>
            <a:endParaRPr sz="2000" dirty="0">
              <a:cs typeface="Times New Roman"/>
            </a:endParaRPr>
          </a:p>
          <a:p>
            <a:pPr marL="241300" marR="170180" indent="-229235">
              <a:lnSpc>
                <a:spcPct val="892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cs typeface="Times New Roman"/>
              </a:rPr>
              <a:t>Cross-Domain Applications: </a:t>
            </a:r>
            <a:r>
              <a:rPr sz="2000" dirty="0">
                <a:cs typeface="Times New Roman"/>
              </a:rPr>
              <a:t>Explore </a:t>
            </a:r>
            <a:r>
              <a:rPr sz="2000" spc="-5" dirty="0">
                <a:cs typeface="Times New Roman"/>
              </a:rPr>
              <a:t>and </a:t>
            </a:r>
            <a:r>
              <a:rPr sz="2000" spc="5" dirty="0">
                <a:cs typeface="Times New Roman"/>
              </a:rPr>
              <a:t>adapt </a:t>
            </a:r>
            <a:r>
              <a:rPr sz="2000" spc="-20" dirty="0">
                <a:cs typeface="Times New Roman"/>
              </a:rPr>
              <a:t>the </a:t>
            </a:r>
            <a:r>
              <a:rPr sz="2000" spc="-5" dirty="0">
                <a:cs typeface="Times New Roman"/>
              </a:rPr>
              <a:t>system for </a:t>
            </a:r>
            <a:r>
              <a:rPr sz="2000" dirty="0">
                <a:cs typeface="Times New Roman"/>
              </a:rPr>
              <a:t>cross-domain </a:t>
            </a:r>
            <a:r>
              <a:rPr sz="2000" spc="-10" dirty="0">
                <a:cs typeface="Times New Roman"/>
              </a:rPr>
              <a:t>applications, </a:t>
            </a:r>
            <a:r>
              <a:rPr sz="2000" spc="10" dirty="0">
                <a:cs typeface="Times New Roman"/>
              </a:rPr>
              <a:t>such as </a:t>
            </a:r>
            <a:r>
              <a:rPr sz="2000" spc="-484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mental </a:t>
            </a:r>
            <a:r>
              <a:rPr sz="2000" dirty="0">
                <a:cs typeface="Times New Roman"/>
              </a:rPr>
              <a:t>health </a:t>
            </a:r>
            <a:r>
              <a:rPr sz="2000" spc="-10" dirty="0">
                <a:cs typeface="Times New Roman"/>
              </a:rPr>
              <a:t>monitoring, </a:t>
            </a:r>
            <a:r>
              <a:rPr sz="2000" dirty="0">
                <a:cs typeface="Times New Roman"/>
              </a:rPr>
              <a:t>human-robot </a:t>
            </a:r>
            <a:r>
              <a:rPr sz="2000" spc="-5" dirty="0">
                <a:cs typeface="Times New Roman"/>
              </a:rPr>
              <a:t>interaction, and educational </a:t>
            </a:r>
            <a:r>
              <a:rPr sz="2000" spc="-15" dirty="0">
                <a:cs typeface="Times New Roman"/>
              </a:rPr>
              <a:t>technology, </a:t>
            </a:r>
            <a:r>
              <a:rPr sz="2000" spc="25" dirty="0">
                <a:cs typeface="Times New Roman"/>
              </a:rPr>
              <a:t>to </a:t>
            </a:r>
            <a:r>
              <a:rPr sz="2000" spc="-5" dirty="0">
                <a:cs typeface="Times New Roman"/>
              </a:rPr>
              <a:t>broaden </a:t>
            </a:r>
            <a:r>
              <a:rPr sz="2000" spc="5" dirty="0">
                <a:cs typeface="Times New Roman"/>
              </a:rPr>
              <a:t>its </a:t>
            </a:r>
            <a:r>
              <a:rPr sz="2000" spc="1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impact.</a:t>
            </a:r>
            <a:endParaRPr sz="2000" dirty="0">
              <a:cs typeface="Times New Roman"/>
            </a:endParaRPr>
          </a:p>
          <a:p>
            <a:pPr marL="241300" marR="5080" indent="-229235">
              <a:lnSpc>
                <a:spcPts val="2100"/>
              </a:lnSpc>
              <a:spcBef>
                <a:spcPts val="11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cs typeface="Times New Roman"/>
              </a:rPr>
              <a:t>Privacy-Preserving</a:t>
            </a:r>
            <a:r>
              <a:rPr sz="2000" b="1" spc="-10" dirty="0">
                <a:cs typeface="Times New Roman"/>
              </a:rPr>
              <a:t> </a:t>
            </a:r>
            <a:r>
              <a:rPr sz="2000" b="1" spc="-25" dirty="0">
                <a:cs typeface="Times New Roman"/>
              </a:rPr>
              <a:t>Techniques:</a:t>
            </a:r>
            <a:r>
              <a:rPr sz="2000" b="1" spc="4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Research </a:t>
            </a:r>
            <a:r>
              <a:rPr sz="2000" spc="20" dirty="0">
                <a:cs typeface="Times New Roman"/>
              </a:rPr>
              <a:t>and</a:t>
            </a:r>
            <a:r>
              <a:rPr sz="2000" spc="-10" dirty="0">
                <a:cs typeface="Times New Roman"/>
              </a:rPr>
              <a:t> implement </a:t>
            </a:r>
            <a:r>
              <a:rPr sz="2000" spc="-5" dirty="0">
                <a:cs typeface="Times New Roman"/>
              </a:rPr>
              <a:t>advanced </a:t>
            </a:r>
            <a:r>
              <a:rPr sz="2000" dirty="0">
                <a:cs typeface="Times New Roman"/>
              </a:rPr>
              <a:t>privacy-preserving</a:t>
            </a:r>
            <a:r>
              <a:rPr sz="2000" spc="-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techniques, </a:t>
            </a:r>
            <a:r>
              <a:rPr sz="2000" spc="-484" dirty="0">
                <a:cs typeface="Times New Roman"/>
              </a:rPr>
              <a:t> </a:t>
            </a:r>
            <a:r>
              <a:rPr sz="2000" spc="10" dirty="0">
                <a:cs typeface="Times New Roman"/>
              </a:rPr>
              <a:t>such</a:t>
            </a:r>
            <a:r>
              <a:rPr sz="2000" spc="-20" dirty="0">
                <a:cs typeface="Times New Roman"/>
              </a:rPr>
              <a:t> </a:t>
            </a:r>
            <a:r>
              <a:rPr sz="2000" spc="-30" dirty="0">
                <a:cs typeface="Times New Roman"/>
              </a:rPr>
              <a:t>as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federated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learning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or</a:t>
            </a:r>
            <a:r>
              <a:rPr sz="2000" spc="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on-device</a:t>
            </a:r>
            <a:r>
              <a:rPr sz="2000" spc="-5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processing,</a:t>
            </a:r>
            <a:r>
              <a:rPr sz="2000" spc="-30" dirty="0">
                <a:cs typeface="Times New Roman"/>
              </a:rPr>
              <a:t> </a:t>
            </a:r>
            <a:r>
              <a:rPr sz="2000" spc="25" dirty="0">
                <a:cs typeface="Times New Roman"/>
              </a:rPr>
              <a:t>to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address</a:t>
            </a:r>
            <a:r>
              <a:rPr sz="2000" spc="-20" dirty="0">
                <a:cs typeface="Times New Roman"/>
              </a:rPr>
              <a:t> </a:t>
            </a:r>
            <a:r>
              <a:rPr sz="2000" spc="5" dirty="0">
                <a:cs typeface="Times New Roman"/>
              </a:rPr>
              <a:t>concerns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related</a:t>
            </a:r>
            <a:r>
              <a:rPr sz="2000" spc="-2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to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user</a:t>
            </a:r>
            <a:r>
              <a:rPr sz="2000" spc="2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data</a:t>
            </a:r>
            <a:r>
              <a:rPr sz="2000" spc="20" dirty="0">
                <a:cs typeface="Times New Roman"/>
              </a:rPr>
              <a:t> </a:t>
            </a:r>
            <a:r>
              <a:rPr sz="2000" spc="-20" dirty="0">
                <a:cs typeface="Times New Roman"/>
              </a:rPr>
              <a:t>privacy.</a:t>
            </a:r>
            <a:endParaRPr sz="2000" dirty="0">
              <a:cs typeface="Times New Roman"/>
            </a:endParaRPr>
          </a:p>
          <a:p>
            <a:pPr marL="241300" marR="97155" indent="-229235">
              <a:lnSpc>
                <a:spcPct val="8920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spc="-5" dirty="0">
                <a:cs typeface="Times New Roman"/>
              </a:rPr>
              <a:t>Enhanced</a:t>
            </a:r>
            <a:r>
              <a:rPr sz="2000" b="1" spc="35" dirty="0">
                <a:cs typeface="Times New Roman"/>
              </a:rPr>
              <a:t> </a:t>
            </a:r>
            <a:r>
              <a:rPr sz="2000" b="1" spc="-10" dirty="0">
                <a:cs typeface="Times New Roman"/>
              </a:rPr>
              <a:t>Sentiment</a:t>
            </a:r>
            <a:r>
              <a:rPr sz="2000" b="1" spc="-110" dirty="0">
                <a:cs typeface="Times New Roman"/>
              </a:rPr>
              <a:t> </a:t>
            </a:r>
            <a:r>
              <a:rPr sz="2000" b="1" spc="-5" dirty="0">
                <a:cs typeface="Times New Roman"/>
              </a:rPr>
              <a:t>Analysis</a:t>
            </a:r>
            <a:r>
              <a:rPr sz="2000" b="1" spc="-80" dirty="0">
                <a:cs typeface="Times New Roman"/>
              </a:rPr>
              <a:t> </a:t>
            </a:r>
            <a:r>
              <a:rPr sz="2000" b="1" spc="-10" dirty="0">
                <a:cs typeface="Times New Roman"/>
              </a:rPr>
              <a:t>Algorithms:</a:t>
            </a:r>
            <a:r>
              <a:rPr sz="2000" b="1" spc="7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Improve</a:t>
            </a:r>
            <a:r>
              <a:rPr sz="2000" spc="3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sentiment</a:t>
            </a:r>
            <a:r>
              <a:rPr sz="200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analysis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algorithms </a:t>
            </a:r>
            <a:r>
              <a:rPr sz="2000" spc="-10" dirty="0">
                <a:cs typeface="Times New Roman"/>
              </a:rPr>
              <a:t>by</a:t>
            </a:r>
            <a:r>
              <a:rPr sz="2000" spc="-5" dirty="0">
                <a:cs typeface="Times New Roman"/>
              </a:rPr>
              <a:t> considering </a:t>
            </a:r>
            <a:r>
              <a:rPr sz="2000" spc="-484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context, sarcasm, </a:t>
            </a:r>
            <a:r>
              <a:rPr sz="2000" spc="-5" dirty="0">
                <a:cs typeface="Times New Roman"/>
              </a:rPr>
              <a:t>and cultural </a:t>
            </a:r>
            <a:r>
              <a:rPr sz="2000" dirty="0">
                <a:cs typeface="Times New Roman"/>
              </a:rPr>
              <a:t>nuances, </a:t>
            </a:r>
            <a:r>
              <a:rPr sz="2000" spc="-5" dirty="0">
                <a:cs typeface="Times New Roman"/>
              </a:rPr>
              <a:t>enhancing </a:t>
            </a:r>
            <a:r>
              <a:rPr sz="2000" spc="5" dirty="0">
                <a:cs typeface="Times New Roman"/>
              </a:rPr>
              <a:t>the </a:t>
            </a:r>
            <a:r>
              <a:rPr sz="2000" dirty="0">
                <a:cs typeface="Times New Roman"/>
              </a:rPr>
              <a:t>system's </a:t>
            </a:r>
            <a:r>
              <a:rPr sz="2000" spc="-10" dirty="0">
                <a:cs typeface="Times New Roman"/>
              </a:rPr>
              <a:t>ability </a:t>
            </a:r>
            <a:r>
              <a:rPr sz="2000" spc="25" dirty="0">
                <a:cs typeface="Times New Roman"/>
              </a:rPr>
              <a:t>to </a:t>
            </a:r>
            <a:r>
              <a:rPr sz="2000" spc="-5" dirty="0">
                <a:cs typeface="Times New Roman"/>
              </a:rPr>
              <a:t>accurately </a:t>
            </a:r>
            <a:r>
              <a:rPr sz="2000" spc="-10" dirty="0">
                <a:cs typeface="Times New Roman"/>
              </a:rPr>
              <a:t>interpret </a:t>
            </a:r>
            <a:r>
              <a:rPr sz="2000" spc="20" dirty="0">
                <a:cs typeface="Times New Roman"/>
              </a:rPr>
              <a:t>and </a:t>
            </a:r>
            <a:r>
              <a:rPr sz="2000" spc="2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respond</a:t>
            </a:r>
            <a:r>
              <a:rPr sz="2000" spc="-2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to</a:t>
            </a:r>
            <a:r>
              <a:rPr sz="2000" spc="-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diverse</a:t>
            </a:r>
            <a:r>
              <a:rPr sz="2000" spc="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sentiments.</a:t>
            </a:r>
            <a:endParaRPr sz="2000" dirty="0"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245618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65" dirty="0">
                <a:latin typeface="Calibri Light"/>
                <a:cs typeface="Calibri Light"/>
              </a:rPr>
              <a:t>References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571624"/>
            <a:ext cx="10196830" cy="33870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1300" marR="5080" indent="-229235">
              <a:lnSpc>
                <a:spcPct val="89900"/>
              </a:lnSpc>
              <a:spcBef>
                <a:spcPts val="459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25" dirty="0">
                <a:latin typeface="Times New Roman"/>
                <a:cs typeface="Times New Roman"/>
              </a:rPr>
              <a:t>Huang,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spc="-60" dirty="0">
                <a:latin typeface="Times New Roman"/>
                <a:cs typeface="Times New Roman"/>
              </a:rPr>
              <a:t>ZY.,</a:t>
            </a:r>
            <a:r>
              <a:rPr sz="2750" spc="-30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Times New Roman"/>
                <a:cs typeface="Times New Roman"/>
              </a:rPr>
              <a:t>Chiang,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Times New Roman"/>
                <a:cs typeface="Times New Roman"/>
              </a:rPr>
              <a:t>CC.,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spc="20" dirty="0">
                <a:latin typeface="Times New Roman"/>
                <a:cs typeface="Times New Roman"/>
              </a:rPr>
              <a:t>Chen,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JH.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et</a:t>
            </a:r>
            <a:r>
              <a:rPr sz="2750" spc="40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al.</a:t>
            </a:r>
            <a:r>
              <a:rPr sz="2750" spc="-185" dirty="0">
                <a:latin typeface="Times New Roman"/>
                <a:cs typeface="Times New Roman"/>
              </a:rPr>
              <a:t> </a:t>
            </a:r>
            <a:r>
              <a:rPr sz="2750" spc="20" dirty="0">
                <a:latin typeface="Times New Roman"/>
                <a:cs typeface="Times New Roman"/>
              </a:rPr>
              <a:t>A</a:t>
            </a:r>
            <a:r>
              <a:rPr sz="2750" spc="-70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study</a:t>
            </a:r>
            <a:r>
              <a:rPr sz="2750" spc="25" dirty="0">
                <a:latin typeface="Times New Roman"/>
                <a:cs typeface="Times New Roman"/>
              </a:rPr>
              <a:t> </a:t>
            </a:r>
            <a:r>
              <a:rPr sz="2750" spc="-5" dirty="0">
                <a:latin typeface="Times New Roman"/>
                <a:cs typeface="Times New Roman"/>
              </a:rPr>
              <a:t>on</a:t>
            </a:r>
            <a:r>
              <a:rPr sz="2750" spc="20" dirty="0">
                <a:latin typeface="Times New Roman"/>
                <a:cs typeface="Times New Roman"/>
              </a:rPr>
              <a:t> computer</a:t>
            </a:r>
            <a:r>
              <a:rPr sz="2750" spc="40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vision </a:t>
            </a:r>
            <a:r>
              <a:rPr sz="2750" spc="-670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Times New Roman"/>
                <a:cs typeface="Times New Roman"/>
              </a:rPr>
              <a:t>for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facial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20" dirty="0">
                <a:latin typeface="Times New Roman"/>
                <a:cs typeface="Times New Roman"/>
              </a:rPr>
              <a:t>emotion </a:t>
            </a:r>
            <a:r>
              <a:rPr sz="2750" spc="10" dirty="0">
                <a:latin typeface="Times New Roman"/>
                <a:cs typeface="Times New Roman"/>
              </a:rPr>
              <a:t>recognition.</a:t>
            </a:r>
            <a:r>
              <a:rPr sz="2750" spc="40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Sci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Rep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30" dirty="0">
                <a:latin typeface="Times New Roman"/>
                <a:cs typeface="Times New Roman"/>
              </a:rPr>
              <a:t>13,</a:t>
            </a:r>
            <a:r>
              <a:rPr sz="2750" spc="-35" dirty="0">
                <a:latin typeface="Times New Roman"/>
                <a:cs typeface="Times New Roman"/>
              </a:rPr>
              <a:t> </a:t>
            </a:r>
            <a:r>
              <a:rPr sz="2750" spc="20" dirty="0">
                <a:latin typeface="Times New Roman"/>
                <a:cs typeface="Times New Roman"/>
              </a:rPr>
              <a:t>8425 (2023). </a:t>
            </a:r>
            <a:r>
              <a:rPr sz="2750" spc="2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7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https://doi.org/10.1038/s41598-023-35446-4</a:t>
            </a:r>
            <a:endParaRPr sz="2750">
              <a:latin typeface="Times New Roman"/>
              <a:cs typeface="Times New Roman"/>
            </a:endParaRPr>
          </a:p>
          <a:p>
            <a:pPr marL="241300" marR="108585" indent="-229235">
              <a:lnSpc>
                <a:spcPct val="91000"/>
              </a:lnSpc>
              <a:spcBef>
                <a:spcPts val="1130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25" dirty="0">
                <a:solidFill>
                  <a:srgbClr val="333333"/>
                </a:solidFill>
                <a:latin typeface="Times New Roman"/>
                <a:cs typeface="Times New Roman"/>
              </a:rPr>
              <a:t>J.</a:t>
            </a:r>
            <a:r>
              <a:rPr sz="275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33333"/>
                </a:solidFill>
                <a:latin typeface="Times New Roman"/>
                <a:cs typeface="Times New Roman"/>
              </a:rPr>
              <a:t>Li,</a:t>
            </a:r>
            <a:r>
              <a:rPr sz="275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20" dirty="0">
                <a:solidFill>
                  <a:srgbClr val="333333"/>
                </a:solidFill>
                <a:latin typeface="Times New Roman"/>
                <a:cs typeface="Times New Roman"/>
              </a:rPr>
              <a:t>S.</a:t>
            </a:r>
            <a:r>
              <a:rPr sz="2750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33333"/>
                </a:solidFill>
                <a:latin typeface="Times New Roman"/>
                <a:cs typeface="Times New Roman"/>
              </a:rPr>
              <a:t>Fong,</a:t>
            </a:r>
            <a:r>
              <a:rPr sz="27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-170" dirty="0">
                <a:solidFill>
                  <a:srgbClr val="333333"/>
                </a:solidFill>
                <a:latin typeface="Times New Roman"/>
                <a:cs typeface="Times New Roman"/>
              </a:rPr>
              <a:t>Y.</a:t>
            </a:r>
            <a:r>
              <a:rPr sz="2750" spc="-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25" dirty="0">
                <a:solidFill>
                  <a:srgbClr val="333333"/>
                </a:solidFill>
                <a:latin typeface="Times New Roman"/>
                <a:cs typeface="Times New Roman"/>
              </a:rPr>
              <a:t>Zhuang </a:t>
            </a:r>
            <a:r>
              <a:rPr sz="2750" spc="1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75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20" dirty="0">
                <a:solidFill>
                  <a:srgbClr val="333333"/>
                </a:solidFill>
                <a:latin typeface="Times New Roman"/>
                <a:cs typeface="Times New Roman"/>
              </a:rPr>
              <a:t>R.</a:t>
            </a:r>
            <a:r>
              <a:rPr sz="2750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33333"/>
                </a:solidFill>
                <a:latin typeface="Times New Roman"/>
                <a:cs typeface="Times New Roman"/>
              </a:rPr>
              <a:t>Khoury,</a:t>
            </a:r>
            <a:r>
              <a:rPr sz="275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5" dirty="0">
                <a:solidFill>
                  <a:srgbClr val="333333"/>
                </a:solidFill>
                <a:latin typeface="Times New Roman"/>
                <a:cs typeface="Times New Roman"/>
              </a:rPr>
              <a:t>"Hierarchical</a:t>
            </a:r>
            <a:r>
              <a:rPr sz="275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33333"/>
                </a:solidFill>
                <a:latin typeface="Times New Roman"/>
                <a:cs typeface="Times New Roman"/>
              </a:rPr>
              <a:t>Classification </a:t>
            </a:r>
            <a:r>
              <a:rPr sz="2750" spc="-67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-5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2750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-40" dirty="0">
                <a:solidFill>
                  <a:srgbClr val="333333"/>
                </a:solidFill>
                <a:latin typeface="Times New Roman"/>
                <a:cs typeface="Times New Roman"/>
              </a:rPr>
              <a:t>Text</a:t>
            </a:r>
            <a:r>
              <a:rPr sz="27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5" dirty="0">
                <a:solidFill>
                  <a:srgbClr val="333333"/>
                </a:solidFill>
                <a:latin typeface="Times New Roman"/>
                <a:cs typeface="Times New Roman"/>
              </a:rPr>
              <a:t>Mining</a:t>
            </a:r>
            <a:r>
              <a:rPr sz="2750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33333"/>
                </a:solidFill>
                <a:latin typeface="Times New Roman"/>
                <a:cs typeface="Times New Roman"/>
              </a:rPr>
              <a:t>for</a:t>
            </a:r>
            <a:r>
              <a:rPr sz="2750" spc="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5" dirty="0">
                <a:solidFill>
                  <a:srgbClr val="333333"/>
                </a:solidFill>
                <a:latin typeface="Times New Roman"/>
                <a:cs typeface="Times New Roman"/>
              </a:rPr>
              <a:t>Sentiment</a:t>
            </a:r>
            <a:r>
              <a:rPr sz="2750" spc="-18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5" dirty="0">
                <a:solidFill>
                  <a:srgbClr val="333333"/>
                </a:solidFill>
                <a:latin typeface="Times New Roman"/>
                <a:cs typeface="Times New Roman"/>
              </a:rPr>
              <a:t>Analysis",</a:t>
            </a:r>
            <a:r>
              <a:rPr sz="2750" spc="9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15" dirty="0">
                <a:solidFill>
                  <a:srgbClr val="333333"/>
                </a:solidFill>
                <a:latin typeface="Times New Roman"/>
                <a:cs typeface="Times New Roman"/>
              </a:rPr>
              <a:t>2014</a:t>
            </a:r>
            <a:r>
              <a:rPr sz="2750" i="1" spc="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15" dirty="0">
                <a:solidFill>
                  <a:srgbClr val="333333"/>
                </a:solidFill>
                <a:latin typeface="Times New Roman"/>
                <a:cs typeface="Times New Roman"/>
              </a:rPr>
              <a:t>International </a:t>
            </a:r>
            <a:r>
              <a:rPr sz="2750" i="1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5" dirty="0">
                <a:solidFill>
                  <a:srgbClr val="333333"/>
                </a:solidFill>
                <a:latin typeface="Times New Roman"/>
                <a:cs typeface="Times New Roman"/>
              </a:rPr>
              <a:t>Conference</a:t>
            </a:r>
            <a:r>
              <a:rPr sz="2750" i="1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-5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2750" i="1" spc="20" dirty="0">
                <a:solidFill>
                  <a:srgbClr val="333333"/>
                </a:solidFill>
                <a:latin typeface="Times New Roman"/>
                <a:cs typeface="Times New Roman"/>
              </a:rPr>
              <a:t> Soft</a:t>
            </a:r>
            <a:r>
              <a:rPr sz="2750" i="1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15" dirty="0">
                <a:solidFill>
                  <a:srgbClr val="333333"/>
                </a:solidFill>
                <a:latin typeface="Times New Roman"/>
                <a:cs typeface="Times New Roman"/>
              </a:rPr>
              <a:t>Computing</a:t>
            </a:r>
            <a:r>
              <a:rPr sz="2750" i="1" spc="2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i="1" spc="10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2750" i="1" spc="20" dirty="0">
                <a:solidFill>
                  <a:srgbClr val="333333"/>
                </a:solidFill>
                <a:latin typeface="Times New Roman"/>
                <a:cs typeface="Times New Roman"/>
              </a:rPr>
              <a:t> Machine Intelligence</a:t>
            </a:r>
            <a:r>
              <a:rPr sz="2750" spc="20" dirty="0">
                <a:solidFill>
                  <a:srgbClr val="333333"/>
                </a:solidFill>
                <a:latin typeface="Times New Roman"/>
                <a:cs typeface="Times New Roman"/>
              </a:rPr>
              <a:t>,</a:t>
            </a:r>
            <a:r>
              <a:rPr sz="275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33333"/>
                </a:solidFill>
                <a:latin typeface="Times New Roman"/>
                <a:cs typeface="Times New Roman"/>
              </a:rPr>
              <a:t>pp.</a:t>
            </a:r>
            <a:r>
              <a:rPr sz="2750" spc="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10" dirty="0">
                <a:solidFill>
                  <a:srgbClr val="333333"/>
                </a:solidFill>
                <a:latin typeface="Times New Roman"/>
                <a:cs typeface="Times New Roman"/>
              </a:rPr>
              <a:t>46-51, </a:t>
            </a:r>
            <a:r>
              <a:rPr sz="275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333333"/>
                </a:solidFill>
                <a:latin typeface="Times New Roman"/>
                <a:cs typeface="Times New Roman"/>
              </a:rPr>
              <a:t>september.</a:t>
            </a:r>
            <a:r>
              <a:rPr sz="2750" spc="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750" spc="5" dirty="0">
                <a:solidFill>
                  <a:srgbClr val="333333"/>
                </a:solidFill>
                <a:latin typeface="Times New Roman"/>
                <a:cs typeface="Times New Roman"/>
              </a:rPr>
              <a:t>2014.</a:t>
            </a:r>
            <a:endParaRPr sz="27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750" spc="20" dirty="0">
                <a:latin typeface="Times New Roman"/>
                <a:cs typeface="Times New Roman"/>
              </a:rPr>
              <a:t>Gathr</a:t>
            </a:r>
            <a:r>
              <a:rPr sz="2750" spc="-20" dirty="0">
                <a:latin typeface="Times New Roman"/>
                <a:cs typeface="Times New Roman"/>
              </a:rPr>
              <a:t> </a:t>
            </a:r>
            <a:r>
              <a:rPr sz="2750" spc="20" dirty="0">
                <a:latin typeface="Times New Roman"/>
                <a:cs typeface="Times New Roman"/>
              </a:rPr>
              <a:t>Data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Inc.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spc="15" dirty="0">
                <a:latin typeface="Times New Roman"/>
                <a:cs typeface="Times New Roman"/>
              </a:rPr>
              <a:t>(</a:t>
            </a:r>
            <a:r>
              <a:rPr sz="275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http://surl.li/qjloh</a:t>
            </a:r>
            <a:r>
              <a:rPr sz="2750" spc="15" dirty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48775" y="0"/>
            <a:ext cx="2943225" cy="1028700"/>
            <a:chOff x="9248775" y="0"/>
            <a:chExt cx="2943225" cy="1028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8775" y="0"/>
              <a:ext cx="2905125" cy="914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8775" y="114300"/>
              <a:ext cx="2943225" cy="914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93197" y="2914115"/>
            <a:ext cx="4205605" cy="10297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600" b="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6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1323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MT</vt:lpstr>
      <vt:lpstr>Calibri</vt:lpstr>
      <vt:lpstr>Calibri Light</vt:lpstr>
      <vt:lpstr>Courier New</vt:lpstr>
      <vt:lpstr>Times New Roman</vt:lpstr>
      <vt:lpstr>Office Theme</vt:lpstr>
      <vt:lpstr>EMO TRACK</vt:lpstr>
      <vt:lpstr>Content</vt:lpstr>
      <vt:lpstr>Introduction</vt:lpstr>
      <vt:lpstr>Problem Statement</vt:lpstr>
      <vt:lpstr>Research Paper Summary</vt:lpstr>
      <vt:lpstr>Flowchart of the system</vt:lpstr>
      <vt:lpstr>Implementation Details</vt:lpstr>
      <vt:lpstr>PowerPoint Presentation</vt:lpstr>
      <vt:lpstr>PowerPoint Presentation</vt:lpstr>
      <vt:lpstr>Screen shots of  implemented work</vt:lpstr>
      <vt:lpstr>PowerPoint Presentation</vt:lpstr>
      <vt:lpstr>Testing of the Project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 TRACK</dc:title>
  <cp:lastModifiedBy>Dinesh Nalli</cp:lastModifiedBy>
  <cp:revision>39</cp:revision>
  <dcterms:created xsi:type="dcterms:W3CDTF">2024-08-25T10:41:00Z</dcterms:created>
  <dcterms:modified xsi:type="dcterms:W3CDTF">2024-10-24T13:06:56Z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2024-08-25T00:00:00Z</vt:filetime>
  </property>
  <property fmtid="{D5CDD505-2E9C-101B-9397-08002B2CF9AE}" pid="3" name="LastSaved">
    <vt:filetime>2024-08-25T00:00:00Z</vt:filetime>
  </property>
</Properties>
</file>